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8" r:id="rId3"/>
    <p:sldId id="266" r:id="rId4"/>
    <p:sldId id="259" r:id="rId5"/>
    <p:sldId id="260" r:id="rId6"/>
    <p:sldId id="261" r:id="rId7"/>
    <p:sldId id="262" r:id="rId8"/>
    <p:sldId id="270" r:id="rId9"/>
    <p:sldId id="272" r:id="rId10"/>
    <p:sldId id="273" r:id="rId11"/>
    <p:sldId id="269" r:id="rId12"/>
    <p:sldId id="271" r:id="rId13"/>
    <p:sldId id="267" r:id="rId14"/>
    <p:sldId id="264" r:id="rId15"/>
    <p:sldId id="265"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FC48A-40A8-4815-BA95-23178E6D29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a:extLst>
              <a:ext uri="{FF2B5EF4-FFF2-40B4-BE49-F238E27FC236}">
                <a16:creationId xmlns:a16="http://schemas.microsoft.com/office/drawing/2014/main" id="{030C60B8-AC82-45A9-82DA-49E3C3D8F3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22-11-2025</a:t>
            </a:fld>
            <a:endParaRPr lang="en-IN"/>
          </a:p>
        </p:txBody>
      </p:sp>
      <p:sp>
        <p:nvSpPr>
          <p:cNvPr id="4" name="Footer Placeholder 3">
            <a:extLst>
              <a:ext uri="{FF2B5EF4-FFF2-40B4-BE49-F238E27FC236}">
                <a16:creationId xmlns:a16="http://schemas.microsoft.com/office/drawing/2014/main" id="{4B0A9232-31CD-406D-82AE-EA68BC6064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C2C502-FE3D-48CE-962A-D0C5905217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57965162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21-11-2025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extLst>
      <p:ext uri="{BB962C8B-B14F-4D97-AF65-F5344CB8AC3E}">
        <p14:creationId xmlns:p14="http://schemas.microsoft.com/office/powerpoint/2010/main" val="382749563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F19C-4D3B-4283-B632-5CFB8FB95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E01616-88CA-4437-B1B8-62F6DEE62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3850B-84AC-47FE-8838-BED318289AFF}"/>
              </a:ext>
            </a:extLst>
          </p:cNvPr>
          <p:cNvSpPr>
            <a:spLocks noGrp="1"/>
          </p:cNvSpPr>
          <p:nvPr>
            <p:ph type="dt" sz="half" idx="10"/>
          </p:nvPr>
        </p:nvSpPr>
        <p:spPr/>
        <p:txBody>
          <a:bodyPr/>
          <a:lstStyle/>
          <a:p>
            <a:fld id="{7B4479E0-AE4B-443A-B706-E9336E2A033A}" type="datetime1">
              <a:rPr lang="en-IN" smtClean="0"/>
              <a:t>21-11-2025</a:t>
            </a:fld>
            <a:endParaRPr lang="en-IN"/>
          </a:p>
        </p:txBody>
      </p:sp>
      <p:sp>
        <p:nvSpPr>
          <p:cNvPr id="5" name="Footer Placeholder 4">
            <a:extLst>
              <a:ext uri="{FF2B5EF4-FFF2-40B4-BE49-F238E27FC236}">
                <a16:creationId xmlns:a16="http://schemas.microsoft.com/office/drawing/2014/main" id="{A34EC73D-0A8A-4950-9FD7-487AC00EA584}"/>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F5618BE-0643-45DA-993E-5938F8F8B2D6}"/>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11450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3C3-5D56-47C4-BAAA-0AEE6B039F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191E-F147-465C-B1BC-F3192025C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84D21-8E56-4941-93C0-57B67E22C5FD}"/>
              </a:ext>
            </a:extLst>
          </p:cNvPr>
          <p:cNvSpPr>
            <a:spLocks noGrp="1"/>
          </p:cNvSpPr>
          <p:nvPr>
            <p:ph type="dt" sz="half" idx="10"/>
          </p:nvPr>
        </p:nvSpPr>
        <p:spPr/>
        <p:txBody>
          <a:bodyPr/>
          <a:lstStyle/>
          <a:p>
            <a:fld id="{DCD3C179-F1B2-4AC4-B918-797EED3C2BBC}" type="datetime1">
              <a:rPr lang="en-IN" smtClean="0"/>
              <a:t>21-11-2025</a:t>
            </a:fld>
            <a:endParaRPr lang="en-IN"/>
          </a:p>
        </p:txBody>
      </p:sp>
      <p:sp>
        <p:nvSpPr>
          <p:cNvPr id="5" name="Footer Placeholder 4">
            <a:extLst>
              <a:ext uri="{FF2B5EF4-FFF2-40B4-BE49-F238E27FC236}">
                <a16:creationId xmlns:a16="http://schemas.microsoft.com/office/drawing/2014/main" id="{CD79476B-12F5-4CE0-8BED-CC7E02D051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2A82A1D1-2DC0-4EB9-B1C0-3D0A17261884}"/>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2406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3532-2579-487E-A806-FE059BC2E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1D22E9-2061-45FA-973E-DC229F8B3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E1C65-23E2-4167-B173-FA4734A19564}"/>
              </a:ext>
            </a:extLst>
          </p:cNvPr>
          <p:cNvSpPr>
            <a:spLocks noGrp="1"/>
          </p:cNvSpPr>
          <p:nvPr>
            <p:ph type="dt" sz="half" idx="10"/>
          </p:nvPr>
        </p:nvSpPr>
        <p:spPr/>
        <p:txBody>
          <a:bodyPr/>
          <a:lstStyle/>
          <a:p>
            <a:fld id="{F4F31B55-9E00-4A1A-BBAC-863EF197F6B9}" type="datetime1">
              <a:rPr lang="en-IN" smtClean="0"/>
              <a:t>21-11-2025</a:t>
            </a:fld>
            <a:endParaRPr lang="en-IN"/>
          </a:p>
        </p:txBody>
      </p:sp>
      <p:sp>
        <p:nvSpPr>
          <p:cNvPr id="5" name="Footer Placeholder 4">
            <a:extLst>
              <a:ext uri="{FF2B5EF4-FFF2-40B4-BE49-F238E27FC236}">
                <a16:creationId xmlns:a16="http://schemas.microsoft.com/office/drawing/2014/main" id="{FD3BCE50-78C6-4AF3-8C31-1792D834EE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757E728E-FD97-4282-985C-0A8FA934812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7590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648D-8839-402E-8EBE-66C675551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9641E8-F7C7-4F72-83E8-E8E8F3A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211418-08AA-441A-8A66-97EDBEE0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319B3-62E9-4A88-A05B-55A69EF5135C}"/>
              </a:ext>
            </a:extLst>
          </p:cNvPr>
          <p:cNvSpPr>
            <a:spLocks noGrp="1"/>
          </p:cNvSpPr>
          <p:nvPr>
            <p:ph type="dt" sz="half" idx="10"/>
          </p:nvPr>
        </p:nvSpPr>
        <p:spPr/>
        <p:txBody>
          <a:bodyPr/>
          <a:lstStyle/>
          <a:p>
            <a:fld id="{F2EBF340-A21F-4D97-85F1-0DFB22960BCF}" type="datetime1">
              <a:rPr lang="en-IN" smtClean="0"/>
              <a:t>21-11-2025</a:t>
            </a:fld>
            <a:endParaRPr lang="en-IN"/>
          </a:p>
        </p:txBody>
      </p:sp>
      <p:sp>
        <p:nvSpPr>
          <p:cNvPr id="6" name="Footer Placeholder 5">
            <a:extLst>
              <a:ext uri="{FF2B5EF4-FFF2-40B4-BE49-F238E27FC236}">
                <a16:creationId xmlns:a16="http://schemas.microsoft.com/office/drawing/2014/main" id="{5ABF91A1-5E44-452F-A78A-FBA5E47F43F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CEF1FC47-031D-4E2A-B90F-BE2FE414202B}"/>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85720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A536-4AE1-4490-9878-471FF125AA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16612D-5A89-4E9A-90B8-BF7FFA8A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0DF513-E926-411D-8D2B-8831CD309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BBC415-A031-49A9-9DAD-F150409D1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0D390-93EF-4E83-9F5B-91286149D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EC721-76DC-43AF-96DF-A0EE7072BAEC}"/>
              </a:ext>
            </a:extLst>
          </p:cNvPr>
          <p:cNvSpPr>
            <a:spLocks noGrp="1"/>
          </p:cNvSpPr>
          <p:nvPr>
            <p:ph type="dt" sz="half" idx="10"/>
          </p:nvPr>
        </p:nvSpPr>
        <p:spPr/>
        <p:txBody>
          <a:bodyPr/>
          <a:lstStyle/>
          <a:p>
            <a:fld id="{291E6A22-C21D-42F5-A451-C3B1D54F9ACD}" type="datetime1">
              <a:rPr lang="en-IN" smtClean="0"/>
              <a:t>21-11-2025</a:t>
            </a:fld>
            <a:endParaRPr lang="en-IN"/>
          </a:p>
        </p:txBody>
      </p:sp>
      <p:sp>
        <p:nvSpPr>
          <p:cNvPr id="8" name="Footer Placeholder 7">
            <a:extLst>
              <a:ext uri="{FF2B5EF4-FFF2-40B4-BE49-F238E27FC236}">
                <a16:creationId xmlns:a16="http://schemas.microsoft.com/office/drawing/2014/main" id="{DCB44597-18DE-4775-8FB6-A97F0DA48910}"/>
              </a:ext>
            </a:extLst>
          </p:cNvPr>
          <p:cNvSpPr>
            <a:spLocks noGrp="1"/>
          </p:cNvSpPr>
          <p:nvPr>
            <p:ph type="ftr" sz="quarter" idx="11"/>
          </p:nvPr>
        </p:nvSpPr>
        <p:spPr/>
        <p:txBody>
          <a:bodyPr/>
          <a:lstStyle/>
          <a:p>
            <a:r>
              <a:rPr lang="en-IN"/>
              <a:t>ICICC-2021</a:t>
            </a:r>
          </a:p>
        </p:txBody>
      </p:sp>
      <p:sp>
        <p:nvSpPr>
          <p:cNvPr id="9" name="Slide Number Placeholder 8">
            <a:extLst>
              <a:ext uri="{FF2B5EF4-FFF2-40B4-BE49-F238E27FC236}">
                <a16:creationId xmlns:a16="http://schemas.microsoft.com/office/drawing/2014/main" id="{2CC72141-DE0D-4AEB-B511-CB9B54FD6F3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52167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12DF-0ED8-4277-B395-2A4F842B7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0E3D8E-0ABE-4734-98F8-D36BD9940E0A}"/>
              </a:ext>
            </a:extLst>
          </p:cNvPr>
          <p:cNvSpPr>
            <a:spLocks noGrp="1"/>
          </p:cNvSpPr>
          <p:nvPr>
            <p:ph type="dt" sz="half" idx="10"/>
          </p:nvPr>
        </p:nvSpPr>
        <p:spPr/>
        <p:txBody>
          <a:bodyPr/>
          <a:lstStyle/>
          <a:p>
            <a:fld id="{40EF2A80-8EEB-43B2-B954-2445775909FC}" type="datetime1">
              <a:rPr lang="en-IN" smtClean="0"/>
              <a:t>21-11-2025</a:t>
            </a:fld>
            <a:endParaRPr lang="en-IN"/>
          </a:p>
        </p:txBody>
      </p:sp>
      <p:sp>
        <p:nvSpPr>
          <p:cNvPr id="4" name="Footer Placeholder 3">
            <a:extLst>
              <a:ext uri="{FF2B5EF4-FFF2-40B4-BE49-F238E27FC236}">
                <a16:creationId xmlns:a16="http://schemas.microsoft.com/office/drawing/2014/main" id="{510561F1-B38C-461E-85F3-2481751D02A6}"/>
              </a:ext>
            </a:extLst>
          </p:cNvPr>
          <p:cNvSpPr>
            <a:spLocks noGrp="1"/>
          </p:cNvSpPr>
          <p:nvPr>
            <p:ph type="ftr" sz="quarter" idx="11"/>
          </p:nvPr>
        </p:nvSpPr>
        <p:spPr/>
        <p:txBody>
          <a:bodyPr/>
          <a:lstStyle/>
          <a:p>
            <a:r>
              <a:rPr lang="en-IN"/>
              <a:t>ICICC-2021</a:t>
            </a:r>
          </a:p>
        </p:txBody>
      </p:sp>
      <p:sp>
        <p:nvSpPr>
          <p:cNvPr id="5" name="Slide Number Placeholder 4">
            <a:extLst>
              <a:ext uri="{FF2B5EF4-FFF2-40B4-BE49-F238E27FC236}">
                <a16:creationId xmlns:a16="http://schemas.microsoft.com/office/drawing/2014/main" id="{2E712915-E4FE-415C-9D69-B845A7D83F48}"/>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4736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22E84-AD5B-465F-98D4-488F871AAF00}"/>
              </a:ext>
            </a:extLst>
          </p:cNvPr>
          <p:cNvSpPr>
            <a:spLocks noGrp="1"/>
          </p:cNvSpPr>
          <p:nvPr>
            <p:ph type="dt" sz="half" idx="10"/>
          </p:nvPr>
        </p:nvSpPr>
        <p:spPr/>
        <p:txBody>
          <a:bodyPr/>
          <a:lstStyle/>
          <a:p>
            <a:fld id="{F5566693-10B5-4C2E-88F6-1EF5588C2197}" type="datetime1">
              <a:rPr lang="en-IN" smtClean="0"/>
              <a:t>21-11-2025</a:t>
            </a:fld>
            <a:endParaRPr lang="en-IN"/>
          </a:p>
        </p:txBody>
      </p:sp>
      <p:sp>
        <p:nvSpPr>
          <p:cNvPr id="3" name="Footer Placeholder 2">
            <a:extLst>
              <a:ext uri="{FF2B5EF4-FFF2-40B4-BE49-F238E27FC236}">
                <a16:creationId xmlns:a16="http://schemas.microsoft.com/office/drawing/2014/main" id="{1886C86A-862E-4B6A-B263-B01DE6A5BC64}"/>
              </a:ext>
            </a:extLst>
          </p:cNvPr>
          <p:cNvSpPr>
            <a:spLocks noGrp="1"/>
          </p:cNvSpPr>
          <p:nvPr>
            <p:ph type="ftr" sz="quarter" idx="11"/>
          </p:nvPr>
        </p:nvSpPr>
        <p:spPr/>
        <p:txBody>
          <a:bodyPr/>
          <a:lstStyle/>
          <a:p>
            <a:r>
              <a:rPr lang="en-IN"/>
              <a:t>ICICC-2021</a:t>
            </a:r>
          </a:p>
        </p:txBody>
      </p:sp>
      <p:sp>
        <p:nvSpPr>
          <p:cNvPr id="4" name="Slide Number Placeholder 3">
            <a:extLst>
              <a:ext uri="{FF2B5EF4-FFF2-40B4-BE49-F238E27FC236}">
                <a16:creationId xmlns:a16="http://schemas.microsoft.com/office/drawing/2014/main" id="{A62333FC-1B71-4E52-BF49-4D36D092009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60383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CCDE-35D4-412E-AFAB-C219873FE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E1492-B8B6-4708-A8C8-A138B0633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00379-D005-4BAC-B925-C13204308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0578-F2D9-4D73-83B2-F23670EBE97A}"/>
              </a:ext>
            </a:extLst>
          </p:cNvPr>
          <p:cNvSpPr>
            <a:spLocks noGrp="1"/>
          </p:cNvSpPr>
          <p:nvPr>
            <p:ph type="dt" sz="half" idx="10"/>
          </p:nvPr>
        </p:nvSpPr>
        <p:spPr/>
        <p:txBody>
          <a:bodyPr/>
          <a:lstStyle/>
          <a:p>
            <a:fld id="{0B3F409E-ABE5-44AA-B093-FDB870F5DE32}" type="datetime1">
              <a:rPr lang="en-IN" smtClean="0"/>
              <a:t>21-11-2025</a:t>
            </a:fld>
            <a:endParaRPr lang="en-IN"/>
          </a:p>
        </p:txBody>
      </p:sp>
      <p:sp>
        <p:nvSpPr>
          <p:cNvPr id="6" name="Footer Placeholder 5">
            <a:extLst>
              <a:ext uri="{FF2B5EF4-FFF2-40B4-BE49-F238E27FC236}">
                <a16:creationId xmlns:a16="http://schemas.microsoft.com/office/drawing/2014/main" id="{C24F134B-4FB5-46E9-8513-DB4C9B2EE88F}"/>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F0EE61B3-BD8A-43AB-BB10-5B53A90AD79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9417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223D-FF11-4AE7-973E-C90327524F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DF81C-EE9D-4D7F-A967-06723144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3EF43-9D88-4586-A760-098C1475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BD912-76F0-4805-9E0D-7C09F249E8E9}"/>
              </a:ext>
            </a:extLst>
          </p:cNvPr>
          <p:cNvSpPr>
            <a:spLocks noGrp="1"/>
          </p:cNvSpPr>
          <p:nvPr>
            <p:ph type="dt" sz="half" idx="10"/>
          </p:nvPr>
        </p:nvSpPr>
        <p:spPr/>
        <p:txBody>
          <a:bodyPr/>
          <a:lstStyle/>
          <a:p>
            <a:fld id="{E116C6B4-82D6-4D23-BAFE-D8055255E829}" type="datetime1">
              <a:rPr lang="en-IN" smtClean="0"/>
              <a:t>21-11-2025</a:t>
            </a:fld>
            <a:endParaRPr lang="en-IN"/>
          </a:p>
        </p:txBody>
      </p:sp>
      <p:sp>
        <p:nvSpPr>
          <p:cNvPr id="6" name="Footer Placeholder 5">
            <a:extLst>
              <a:ext uri="{FF2B5EF4-FFF2-40B4-BE49-F238E27FC236}">
                <a16:creationId xmlns:a16="http://schemas.microsoft.com/office/drawing/2014/main" id="{BA50FEFC-E6F0-4221-8F91-DEE76671F22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770A78C8-FCAB-43A2-9CE6-A2768B5DABF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826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5A84-E335-48CC-A676-05D91F6A70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60F8BF-FFBC-41F7-B2B0-2CF3804EE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955D-CA90-44D7-BF8E-BC38A3F36D97}"/>
              </a:ext>
            </a:extLst>
          </p:cNvPr>
          <p:cNvSpPr>
            <a:spLocks noGrp="1"/>
          </p:cNvSpPr>
          <p:nvPr>
            <p:ph type="dt" sz="half" idx="10"/>
          </p:nvPr>
        </p:nvSpPr>
        <p:spPr/>
        <p:txBody>
          <a:bodyPr/>
          <a:lstStyle/>
          <a:p>
            <a:fld id="{36A61C40-9A28-4915-87D9-F21430F4582D}" type="datetime1">
              <a:rPr lang="en-IN" smtClean="0"/>
              <a:t>21-11-2025</a:t>
            </a:fld>
            <a:endParaRPr lang="en-IN"/>
          </a:p>
        </p:txBody>
      </p:sp>
      <p:sp>
        <p:nvSpPr>
          <p:cNvPr id="5" name="Footer Placeholder 4">
            <a:extLst>
              <a:ext uri="{FF2B5EF4-FFF2-40B4-BE49-F238E27FC236}">
                <a16:creationId xmlns:a16="http://schemas.microsoft.com/office/drawing/2014/main" id="{870CB078-D83E-4166-A02C-B6B163DA9360}"/>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CF2FEF6-C837-419F-8835-DC22EF83E19E}"/>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27120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401E9-8805-42DB-AC72-2AE0FF03F7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EB009-1E61-4516-B850-2D2767C6B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E6585-E3B2-43BE-AAE1-443822B2FC44}"/>
              </a:ext>
            </a:extLst>
          </p:cNvPr>
          <p:cNvSpPr>
            <a:spLocks noGrp="1"/>
          </p:cNvSpPr>
          <p:nvPr>
            <p:ph type="dt" sz="half" idx="10"/>
          </p:nvPr>
        </p:nvSpPr>
        <p:spPr/>
        <p:txBody>
          <a:bodyPr/>
          <a:lstStyle/>
          <a:p>
            <a:fld id="{93774F61-A72D-47AB-B4C3-4F43AD0A32CC}" type="datetime1">
              <a:rPr lang="en-IN" smtClean="0"/>
              <a:t>21-11-2025</a:t>
            </a:fld>
            <a:endParaRPr lang="en-IN"/>
          </a:p>
        </p:txBody>
      </p:sp>
      <p:sp>
        <p:nvSpPr>
          <p:cNvPr id="5" name="Footer Placeholder 4">
            <a:extLst>
              <a:ext uri="{FF2B5EF4-FFF2-40B4-BE49-F238E27FC236}">
                <a16:creationId xmlns:a16="http://schemas.microsoft.com/office/drawing/2014/main" id="{788DC36A-90BB-45C6-86EC-EF77DE5E67FC}"/>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95E6A805-3800-4CB1-9ADA-94754454EBC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7498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EB43A-BD9E-4874-BFFB-60C4AC61A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76C3F-335A-4DB7-9751-C78105CE3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7C449-54C2-463E-BDDF-5F5299CBA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91507-B170-49D3-AC27-6346FE1BA60C}" type="datetime1">
              <a:rPr lang="en-IN" smtClean="0"/>
              <a:t>21-11-2025</a:t>
            </a:fld>
            <a:endParaRPr lang="en-IN"/>
          </a:p>
        </p:txBody>
      </p:sp>
      <p:sp>
        <p:nvSpPr>
          <p:cNvPr id="5" name="Footer Placeholder 4">
            <a:extLst>
              <a:ext uri="{FF2B5EF4-FFF2-40B4-BE49-F238E27FC236}">
                <a16:creationId xmlns:a16="http://schemas.microsoft.com/office/drawing/2014/main" id="{E9337EE8-8318-4653-A49C-0E3AAA3CE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ICICC-2021</a:t>
            </a:r>
          </a:p>
        </p:txBody>
      </p:sp>
      <p:sp>
        <p:nvSpPr>
          <p:cNvPr id="6" name="Slide Number Placeholder 5">
            <a:extLst>
              <a:ext uri="{FF2B5EF4-FFF2-40B4-BE49-F238E27FC236}">
                <a16:creationId xmlns:a16="http://schemas.microsoft.com/office/drawing/2014/main" id="{B85FA26E-3201-463F-ACF3-CBF98D3B2E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extLst>
      <p:ext uri="{BB962C8B-B14F-4D97-AF65-F5344CB8AC3E}">
        <p14:creationId xmlns:p14="http://schemas.microsoft.com/office/powerpoint/2010/main" val="78777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mdpi.com/2227-7390/12/9/1391"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74595" y="1750741"/>
            <a:ext cx="11842810" cy="4703128"/>
          </a:xfrm>
        </p:spPr>
        <p:txBody>
          <a:bodyPr/>
          <a:lstStyle/>
          <a:p>
            <a:endParaRPr lang="en-IN" sz="1400" dirty="0">
              <a:latin typeface="Comic Sans MS" panose="030F0702030302020204" pitchFamily="66" charset="0"/>
            </a:endParaRPr>
          </a:p>
          <a:p>
            <a:endParaRPr lang="en-IN" sz="1400" dirty="0">
              <a:latin typeface="Comic Sans MS" panose="030F0702030302020204" pitchFamily="66" charset="0"/>
            </a:endParaRPr>
          </a:p>
          <a:p>
            <a:r>
              <a:rPr lang="en-US" sz="3200" dirty="0"/>
              <a:t>Causal Explainable AI Using Quantum Inspired Embeddings for Financial Risk Modeling </a:t>
            </a:r>
          </a:p>
          <a:p>
            <a:endParaRPr lang="en-IN" sz="1400" dirty="0">
              <a:latin typeface="Comic Sans MS" panose="030F0702030302020204" pitchFamily="66" charset="0"/>
            </a:endParaRPr>
          </a:p>
          <a:p>
            <a:r>
              <a:rPr lang="en-IN" sz="1800" dirty="0">
                <a:latin typeface="Comic Sans MS" panose="030F0702030302020204" pitchFamily="66" charset="0"/>
              </a:rPr>
              <a:t>Authors</a:t>
            </a:r>
          </a:p>
          <a:p>
            <a:r>
              <a:rPr lang="en-IN" sz="1800" dirty="0">
                <a:latin typeface="Comic Sans MS" panose="030F0702030302020204" pitchFamily="66" charset="0"/>
              </a:rPr>
              <a:t>Parth Bramhecha*, Shubham Chandratre, Rajdeep Thakur, Parth </a:t>
            </a:r>
            <a:r>
              <a:rPr lang="en-IN" sz="1800" dirty="0" err="1">
                <a:latin typeface="Comic Sans MS" panose="030F0702030302020204" pitchFamily="66" charset="0"/>
              </a:rPr>
              <a:t>Manekar</a:t>
            </a:r>
            <a:r>
              <a:rPr lang="en-IN" sz="1800" dirty="0">
                <a:latin typeface="Comic Sans MS" panose="030F0702030302020204" pitchFamily="66" charset="0"/>
              </a:rPr>
              <a:t> and </a:t>
            </a:r>
            <a:r>
              <a:rPr lang="en-IN" sz="1800" dirty="0" err="1">
                <a:latin typeface="Comic Sans MS" panose="030F0702030302020204" pitchFamily="66" charset="0"/>
              </a:rPr>
              <a:t>Dr.Emmanuel</a:t>
            </a:r>
            <a:r>
              <a:rPr lang="en-IN" sz="1800" dirty="0">
                <a:latin typeface="Comic Sans MS" panose="030F0702030302020204" pitchFamily="66" charset="0"/>
              </a:rPr>
              <a:t> Mark</a:t>
            </a:r>
          </a:p>
          <a:p>
            <a:endParaRPr lang="en-IN" sz="1800" dirty="0">
              <a:latin typeface="Comic Sans MS" panose="030F0702030302020204" pitchFamily="66" charset="0"/>
            </a:endParaRPr>
          </a:p>
          <a:p>
            <a:r>
              <a:rPr lang="en-IN" sz="1800" dirty="0">
                <a:latin typeface="Comic Sans MS" panose="030F0702030302020204" pitchFamily="66" charset="0"/>
              </a:rPr>
              <a:t>Affiliation of Presenting Author</a:t>
            </a:r>
          </a:p>
          <a:p>
            <a:r>
              <a:rPr lang="en-US" sz="1800" dirty="0">
                <a:latin typeface="Comic Sans MS" panose="030F0702030302020204" pitchFamily="66" charset="0"/>
              </a:rPr>
              <a:t>Dept. of Information Technology, Pune Institute of Computer Technology, Pune, India</a:t>
            </a:r>
          </a:p>
          <a:p>
            <a:endParaRPr lang="en-US" sz="1800" dirty="0">
              <a:latin typeface="Comic Sans MS" panose="030F0702030302020204" pitchFamily="66" charset="0"/>
            </a:endParaRPr>
          </a:p>
          <a:p>
            <a:r>
              <a:rPr lang="en-US" sz="1800" dirty="0">
                <a:latin typeface="Comic Sans MS" panose="030F0702030302020204" pitchFamily="66" charset="0"/>
              </a:rPr>
              <a:t>Paper ID 619</a:t>
            </a:r>
            <a:endParaRPr lang="en-IN" sz="1800" dirty="0">
              <a:latin typeface="Comic Sans MS" panose="030F0702030302020204" pitchFamily="66" charset="0"/>
            </a:endParaRPr>
          </a:p>
          <a:p>
            <a:endParaRPr lang="en-IN" sz="1400" dirty="0">
              <a:latin typeface="Comic Sans MS" panose="030F0702030302020204" pitchFamily="66" charset="0"/>
            </a:endParaRPr>
          </a:p>
          <a:p>
            <a:endParaRPr lang="en-IN" sz="1400" dirty="0">
              <a:latin typeface="Comic Sans MS" panose="030F0702030302020204" pitchFamily="66" charset="0"/>
            </a:endParaRPr>
          </a:p>
        </p:txBody>
      </p:sp>
      <p:grpSp>
        <p:nvGrpSpPr>
          <p:cNvPr id="8" name="Group 7">
            <a:extLst>
              <a:ext uri="{FF2B5EF4-FFF2-40B4-BE49-F238E27FC236}">
                <a16:creationId xmlns:a16="http://schemas.microsoft.com/office/drawing/2014/main" id="{2F1B8098-212B-E3DE-0853-E9B2B1C02823}"/>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E3BEBD78-AFC3-2FBE-EF67-BB2939BF3087}"/>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B6247876-2C95-AD2C-319A-8EC5190A2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27A196B6-4D24-082E-07E5-B6ED88CA3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8981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657350"/>
            <a:ext cx="11407806" cy="4734572"/>
          </a:xfrm>
        </p:spPr>
        <p:txBody>
          <a:bodyPr>
            <a:normAutofit lnSpcReduction="10000"/>
          </a:bodyPr>
          <a:lstStyle/>
          <a:p>
            <a:pPr marL="457200" indent="-457200" algn="l">
              <a:buAutoNum type="arabicPeriod"/>
            </a:pPr>
            <a:r>
              <a:rPr lang="en-IN" dirty="0">
                <a:latin typeface="Comic Sans MS" panose="030F0702030302020204" pitchFamily="66" charset="0"/>
              </a:rPr>
              <a:t>INDEX:</a:t>
            </a:r>
          </a:p>
          <a:p>
            <a:pPr algn="l"/>
            <a:endParaRPr lang="en-IN" dirty="0">
              <a:latin typeface="Comic Sans MS" panose="030F0702030302020204" pitchFamily="66" charset="0"/>
            </a:endParaRPr>
          </a:p>
          <a:p>
            <a:pPr marL="457200" indent="-457200" algn="l">
              <a:buAutoNum type="arabicPeriod"/>
            </a:pPr>
            <a:r>
              <a:rPr lang="en-IN" dirty="0">
                <a:latin typeface="Arial" panose="020B0604020202020204" pitchFamily="34" charset="0"/>
                <a:cs typeface="Arial" panose="020B0604020202020204" pitchFamily="34" charset="0"/>
              </a:rPr>
              <a:t>Abstract</a:t>
            </a:r>
          </a:p>
          <a:p>
            <a:pPr marL="457200" indent="-457200" algn="l">
              <a:buAutoNum type="arabicPeriod"/>
            </a:pPr>
            <a:r>
              <a:rPr lang="en-IN" dirty="0">
                <a:latin typeface="Arial" panose="020B0604020202020204" pitchFamily="34" charset="0"/>
                <a:cs typeface="Arial" panose="020B0604020202020204" pitchFamily="34" charset="0"/>
              </a:rPr>
              <a:t>Introduction</a:t>
            </a:r>
          </a:p>
          <a:p>
            <a:pPr marL="457200" indent="-457200" algn="l">
              <a:buAutoNum type="arabicPeriod"/>
            </a:pPr>
            <a:r>
              <a:rPr lang="en-IN" dirty="0">
                <a:latin typeface="Arial" panose="020B0604020202020204" pitchFamily="34" charset="0"/>
                <a:cs typeface="Arial" panose="020B0604020202020204" pitchFamily="34" charset="0"/>
              </a:rPr>
              <a:t>Literature Review</a:t>
            </a:r>
          </a:p>
          <a:p>
            <a:pPr marL="457200" indent="-457200" algn="l">
              <a:buAutoNum type="arabicPeriod"/>
            </a:pPr>
            <a:r>
              <a:rPr lang="en-IN" dirty="0">
                <a:latin typeface="Arial" panose="020B0604020202020204" pitchFamily="34" charset="0"/>
                <a:cs typeface="Arial" panose="020B0604020202020204" pitchFamily="34" charset="0"/>
              </a:rPr>
              <a:t>Research Gaps</a:t>
            </a:r>
          </a:p>
          <a:p>
            <a:pPr marL="457200" indent="-457200" algn="l">
              <a:buAutoNum type="arabicPeriod"/>
            </a:pPr>
            <a:r>
              <a:rPr lang="en-IN" dirty="0">
                <a:latin typeface="Arial" panose="020B0604020202020204" pitchFamily="34" charset="0"/>
                <a:cs typeface="Arial" panose="020B0604020202020204" pitchFamily="34" charset="0"/>
              </a:rPr>
              <a:t>Proposed Methodology</a:t>
            </a:r>
          </a:p>
          <a:p>
            <a:pPr marL="457200" indent="-457200" algn="l">
              <a:buAutoNum type="arabicPeriod"/>
            </a:pPr>
            <a:r>
              <a:rPr lang="en-IN" dirty="0">
                <a:latin typeface="Arial" panose="020B0604020202020204" pitchFamily="34" charset="0"/>
                <a:cs typeface="Arial" panose="020B0604020202020204" pitchFamily="34" charset="0"/>
              </a:rPr>
              <a:t>Results &amp; Discussions</a:t>
            </a:r>
          </a:p>
          <a:p>
            <a:pPr marL="457200" indent="-457200" algn="l">
              <a:buAutoNum type="arabicPeriod"/>
            </a:pPr>
            <a:r>
              <a:rPr lang="en-IN" dirty="0">
                <a:latin typeface="Arial" panose="020B0604020202020204" pitchFamily="34" charset="0"/>
                <a:cs typeface="Arial" panose="020B0604020202020204" pitchFamily="34" charset="0"/>
              </a:rPr>
              <a:t>Comparative Analysis</a:t>
            </a:r>
          </a:p>
          <a:p>
            <a:pPr marL="457200" indent="-457200" algn="l">
              <a:buAutoNum type="arabicPeriod"/>
            </a:pPr>
            <a:r>
              <a:rPr lang="en-IN" dirty="0">
                <a:latin typeface="Arial" panose="020B0604020202020204" pitchFamily="34" charset="0"/>
                <a:cs typeface="Arial" panose="020B0604020202020204" pitchFamily="34" charset="0"/>
              </a:rPr>
              <a:t>Conclusion &amp; Future Work</a:t>
            </a:r>
          </a:p>
          <a:p>
            <a:pPr marL="457200" indent="-457200" algn="l">
              <a:buAutoNum type="arabicPeriod"/>
            </a:pPr>
            <a:r>
              <a:rPr lang="en-IN" dirty="0">
                <a:latin typeface="Arial" panose="020B0604020202020204" pitchFamily="34" charset="0"/>
                <a:cs typeface="Arial" panose="020B0604020202020204" pitchFamily="34" charset="0"/>
              </a:rPr>
              <a:t>References</a:t>
            </a:r>
          </a:p>
        </p:txBody>
      </p:sp>
      <p:grpSp>
        <p:nvGrpSpPr>
          <p:cNvPr id="8" name="Group 7">
            <a:extLst>
              <a:ext uri="{FF2B5EF4-FFF2-40B4-BE49-F238E27FC236}">
                <a16:creationId xmlns:a16="http://schemas.microsoft.com/office/drawing/2014/main" id="{9B94EBF6-20B5-A513-981D-0F6BD7BD25E9}"/>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D786B286-8D4E-EFF6-7CFC-1C10A9C3F4B1}"/>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0240AE39-897F-AAC9-99C2-26E804DA7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3183B610-955E-749B-85FF-5F6E37CB3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637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552575"/>
            <a:ext cx="11407806" cy="4839347"/>
          </a:xfrm>
        </p:spPr>
        <p:txBody>
          <a:bodyPr>
            <a:normAutofit/>
          </a:bodyPr>
          <a:lstStyle/>
          <a:p>
            <a:pPr algn="l"/>
            <a:r>
              <a:rPr lang="en-IN" dirty="0">
                <a:latin typeface="Comic Sans MS" panose="030F0702030302020204" pitchFamily="66" charset="0"/>
              </a:rPr>
              <a:t>2. ABSTRACT:</a:t>
            </a:r>
          </a:p>
          <a:p>
            <a:pPr algn="just"/>
            <a:r>
              <a:rPr lang="en-US" sz="2200" dirty="0"/>
              <a:t>Counterparty Credit Risk (CCR) in networked financial systems requires solutions that balance predictive accuracy with interpretability. Standard machine learning models, though effective in prediction, often lack transparency and fail to capture causal relationships. We propose a Quantum Inspired Causal Explainable AI (XAI) framework integrating random Fourier based quantum embeddings, causal graph learning, and concept level explainability via Testing with Concept Activation Vectors (TCAV). A Random Forest classifier, trained on a SMOTE resampled subset of the Home Credit Default Risk dataset, is evaluated under simulated macroeconomic stress conditions. The approach yields fine grained insights into CCR dynamics and reveals interpretable risk transmission channels. Compared to SHAP and counterfactual based methods, the framework preserves predictive robustness while enhancing interpretability, addressing known shortcomings of prior XAI approaches in finance. This methodology provides regulators and financial institutions with causally grounded, actionable insights, enabling a more informed trade off between model accuracy and explanatory clarity.</a:t>
            </a:r>
            <a:endParaRPr lang="en-IN" sz="2200" dirty="0">
              <a:latin typeface="Comic Sans MS" panose="030F0702030302020204" pitchFamily="66" charset="0"/>
            </a:endParaRPr>
          </a:p>
        </p:txBody>
      </p:sp>
      <p:grpSp>
        <p:nvGrpSpPr>
          <p:cNvPr id="8" name="Group 7">
            <a:extLst>
              <a:ext uri="{FF2B5EF4-FFF2-40B4-BE49-F238E27FC236}">
                <a16:creationId xmlns:a16="http://schemas.microsoft.com/office/drawing/2014/main" id="{083508B8-4E51-A01A-9480-A12EC2A0703A}"/>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A00A7323-3CA3-0632-F9AD-B334630D9B28}"/>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0250909C-2E5A-615E-BE09-14C9D0CE4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83C8B5CE-0306-1860-B0C2-F40666C76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19739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704975"/>
            <a:ext cx="11407806" cy="4686947"/>
          </a:xfrm>
        </p:spPr>
        <p:txBody>
          <a:bodyPr>
            <a:normAutofit fontScale="92500" lnSpcReduction="10000"/>
          </a:bodyPr>
          <a:lstStyle/>
          <a:p>
            <a:pPr algn="just"/>
            <a:r>
              <a:rPr lang="en-IN" sz="2600" dirty="0">
                <a:latin typeface="Comic Sans MS" panose="030F0702030302020204" pitchFamily="66" charset="0"/>
              </a:rPr>
              <a:t>3. INTRODUCTION:</a:t>
            </a:r>
          </a:p>
          <a:p>
            <a:pPr marL="342900" indent="-342900" algn="just">
              <a:buFont typeface="Arial" panose="020B0604020202020204" pitchFamily="34" charset="0"/>
              <a:buChar char="•"/>
            </a:pPr>
            <a:r>
              <a:rPr lang="en-IN" b="1" dirty="0">
                <a:latin typeface="Arial" panose="020B0604020202020204" pitchFamily="34" charset="0"/>
                <a:cs typeface="Arial" panose="020B0604020202020204" pitchFamily="34" charset="0"/>
              </a:rPr>
              <a:t>The Problem: </a:t>
            </a:r>
            <a:r>
              <a:rPr lang="en-US" dirty="0">
                <a:latin typeface="Arial" panose="020B0604020202020204" pitchFamily="34" charset="0"/>
                <a:cs typeface="Arial" panose="020B0604020202020204" pitchFamily="34" charset="0"/>
              </a:rPr>
              <a:t>CCR</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risk that a financial counterparty (bank, institution, borrower) fails to repay or defaults on a contract such as a loan or derivative.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In global financial systems, many institutions are interconnected — so a single default can cause chain reactions.</a:t>
            </a:r>
          </a:p>
          <a:p>
            <a:pPr marL="342900" indent="-342900" algn="just">
              <a:buFont typeface="Arial" panose="020B0604020202020204" pitchFamily="34" charset="0"/>
              <a:buChar char="•"/>
            </a:pPr>
            <a:r>
              <a:rPr lang="en-US" b="1" dirty="0">
                <a:latin typeface="Arial" panose="020B0604020202020204" pitchFamily="34" charset="0"/>
                <a:cs typeface="Arial" panose="020B0604020202020204" pitchFamily="34" charset="0"/>
              </a:rPr>
              <a:t>Limitations of Current Methods:</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Black-box ML models: High accuracy but poor interpretability and limited regulatory trust.</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Post-hoc explainers (SHAP, LIME): Fail to capture true causal dependencies.</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Quantum models: Offer theoretical benefits but lack integration with practical explainability.</a:t>
            </a:r>
          </a:p>
          <a:p>
            <a:pPr marL="342900" indent="-342900" algn="just">
              <a:buFont typeface="Arial" panose="020B0604020202020204" pitchFamily="34" charset="0"/>
              <a:buChar char="•"/>
            </a:pPr>
            <a:r>
              <a:rPr lang="en-US" b="1" dirty="0">
                <a:latin typeface="Arial" panose="020B0604020202020204" pitchFamily="34" charset="0"/>
                <a:cs typeface="Arial" panose="020B0604020202020204" pitchFamily="34" charset="0"/>
              </a:rPr>
              <a:t>Our Proposed Solution: </a:t>
            </a:r>
            <a:r>
              <a:rPr lang="en-US" dirty="0">
                <a:latin typeface="Arial" panose="020B0604020202020204" pitchFamily="34" charset="0"/>
                <a:cs typeface="Arial" panose="020B0604020202020204" pitchFamily="34" charset="0"/>
              </a:rPr>
              <a:t>We propose a </a:t>
            </a:r>
            <a:r>
              <a:rPr lang="en-US" b="1" dirty="0">
                <a:latin typeface="Arial" panose="020B0604020202020204" pitchFamily="34" charset="0"/>
                <a:cs typeface="Arial" panose="020B0604020202020204" pitchFamily="34" charset="0"/>
              </a:rPr>
              <a:t>Quantum-Inspired Causal Explainable AI (XAI)</a:t>
            </a:r>
            <a:r>
              <a:rPr lang="en-US" dirty="0">
                <a:latin typeface="Arial" panose="020B0604020202020204" pitchFamily="34" charset="0"/>
                <a:cs typeface="Arial" panose="020B0604020202020204" pitchFamily="34" charset="0"/>
              </a:rPr>
              <a:t> framework that combines lightweight quantum-inspired embeddings with causal graph learning and concept-based interpretability (TCAV). Trained on the Home Credit dataset, the model provides interpretable, causally grounded insights into credit risk propagation while maintaining predictive stability under stress conditions.</a:t>
            </a:r>
          </a:p>
          <a:p>
            <a:pPr algn="just"/>
            <a:endParaRPr lang="en-US" dirty="0"/>
          </a:p>
        </p:txBody>
      </p:sp>
      <p:grpSp>
        <p:nvGrpSpPr>
          <p:cNvPr id="8" name="Group 7">
            <a:extLst>
              <a:ext uri="{FF2B5EF4-FFF2-40B4-BE49-F238E27FC236}">
                <a16:creationId xmlns:a16="http://schemas.microsoft.com/office/drawing/2014/main" id="{BDE7DF98-71BB-C1D5-A82E-F4BFE5773D01}"/>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53A00628-FCDF-7EF6-7921-6DFC4B4B5209}"/>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67B6DF50-A06D-D981-29F6-7BFDC9182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22DDF9C7-134B-A3E6-177C-7E3D471C7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4512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414732"/>
            <a:ext cx="11442814" cy="5443268"/>
          </a:xfrm>
        </p:spPr>
        <p:txBody>
          <a:bodyPr>
            <a:normAutofit fontScale="92500" lnSpcReduction="20000"/>
          </a:bodyPr>
          <a:lstStyle/>
          <a:p>
            <a:pPr algn="l"/>
            <a:r>
              <a:rPr lang="en-IN" dirty="0">
                <a:latin typeface="Comic Sans MS" panose="030F0702030302020204" pitchFamily="66" charset="0"/>
              </a:rPr>
              <a:t>4. LITERATURE REVIEW :</a:t>
            </a: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sz="1900" dirty="0">
              <a:latin typeface="Comic Sans MS" panose="030F0702030302020204" pitchFamily="66" charset="0"/>
            </a:endParaRPr>
          </a:p>
          <a:p>
            <a:pPr algn="l"/>
            <a:r>
              <a:rPr lang="en-IN" sz="1900" dirty="0">
                <a:latin typeface="Arial" panose="020B0604020202020204" pitchFamily="34" charset="0"/>
                <a:cs typeface="Arial" panose="020B0604020202020204" pitchFamily="34" charset="0"/>
              </a:rPr>
              <a:t>				       Table 1. Literature Summary</a:t>
            </a:r>
          </a:p>
          <a:p>
            <a:pPr algn="l"/>
            <a:endParaRPr lang="en-IN" dirty="0">
              <a:latin typeface="Comic Sans MS" panose="030F0702030302020204" pitchFamily="66" charset="0"/>
            </a:endParaRPr>
          </a:p>
        </p:txBody>
      </p:sp>
      <p:grpSp>
        <p:nvGrpSpPr>
          <p:cNvPr id="8" name="Group 7">
            <a:extLst>
              <a:ext uri="{FF2B5EF4-FFF2-40B4-BE49-F238E27FC236}">
                <a16:creationId xmlns:a16="http://schemas.microsoft.com/office/drawing/2014/main" id="{C9560D9D-A3B0-DEFD-595F-DB3DD835F6BA}"/>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CDE75956-D3AB-3381-0C08-7299387FEECA}"/>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E85276EB-AB09-26C6-900A-B88A54DDE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8C73C629-344D-2FC7-A257-DDDD73BBBF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7" name="Table 6">
            <a:extLst>
              <a:ext uri="{FF2B5EF4-FFF2-40B4-BE49-F238E27FC236}">
                <a16:creationId xmlns:a16="http://schemas.microsoft.com/office/drawing/2014/main" id="{787CF44A-F5F9-5E70-DF37-4426D3A31661}"/>
              </a:ext>
            </a:extLst>
          </p:cNvPr>
          <p:cNvGraphicFramePr>
            <a:graphicFrameLocks noGrp="1"/>
          </p:cNvGraphicFramePr>
          <p:nvPr>
            <p:extLst>
              <p:ext uri="{D42A27DB-BD31-4B8C-83A1-F6EECF244321}">
                <p14:modId xmlns:p14="http://schemas.microsoft.com/office/powerpoint/2010/main" val="1221424002"/>
              </p:ext>
            </p:extLst>
          </p:nvPr>
        </p:nvGraphicFramePr>
        <p:xfrm>
          <a:off x="816578" y="1837240"/>
          <a:ext cx="10913784" cy="4550123"/>
        </p:xfrm>
        <a:graphic>
          <a:graphicData uri="http://schemas.openxmlformats.org/drawingml/2006/table">
            <a:tbl>
              <a:tblPr firstRow="1" firstCol="1" bandRow="1"/>
              <a:tblGrid>
                <a:gridCol w="2728446">
                  <a:extLst>
                    <a:ext uri="{9D8B030D-6E8A-4147-A177-3AD203B41FA5}">
                      <a16:colId xmlns:a16="http://schemas.microsoft.com/office/drawing/2014/main" val="4288869352"/>
                    </a:ext>
                  </a:extLst>
                </a:gridCol>
                <a:gridCol w="2728446">
                  <a:extLst>
                    <a:ext uri="{9D8B030D-6E8A-4147-A177-3AD203B41FA5}">
                      <a16:colId xmlns:a16="http://schemas.microsoft.com/office/drawing/2014/main" val="3788204716"/>
                    </a:ext>
                  </a:extLst>
                </a:gridCol>
                <a:gridCol w="2728446">
                  <a:extLst>
                    <a:ext uri="{9D8B030D-6E8A-4147-A177-3AD203B41FA5}">
                      <a16:colId xmlns:a16="http://schemas.microsoft.com/office/drawing/2014/main" val="2783766368"/>
                    </a:ext>
                  </a:extLst>
                </a:gridCol>
                <a:gridCol w="2728446">
                  <a:extLst>
                    <a:ext uri="{9D8B030D-6E8A-4147-A177-3AD203B41FA5}">
                      <a16:colId xmlns:a16="http://schemas.microsoft.com/office/drawing/2014/main" val="2603213949"/>
                    </a:ext>
                  </a:extLst>
                </a:gridCol>
              </a:tblGrid>
              <a:tr h="356770">
                <a:tc>
                  <a:txBody>
                    <a:bodyPr/>
                    <a:lstStyle/>
                    <a:p>
                      <a:pPr marL="0" marR="0" algn="just">
                        <a:lnSpc>
                          <a:spcPct val="115000"/>
                        </a:lnSpc>
                        <a:spcAft>
                          <a:spcPts val="800"/>
                        </a:spcAft>
                        <a:buNone/>
                      </a:pPr>
                      <a:r>
                        <a:rPr lang="en-US" sz="1300" b="1" kern="100" dirty="0">
                          <a:effectLst/>
                          <a:latin typeface="Arial" panose="020B0604020202020204" pitchFamily="34" charset="0"/>
                          <a:cs typeface="Arial" panose="020B0604020202020204" pitchFamily="34" charset="0"/>
                        </a:rPr>
                        <a:t>Author(s)</a:t>
                      </a:r>
                      <a:endParaRPr lang="en-US" sz="1300" b="1"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b="1" kern="100">
                          <a:effectLst/>
                          <a:latin typeface="Arial" panose="020B0604020202020204" pitchFamily="34" charset="0"/>
                          <a:cs typeface="Arial" panose="020B0604020202020204" pitchFamily="34" charset="0"/>
                        </a:rPr>
                        <a:t>Work Done</a:t>
                      </a:r>
                      <a:endParaRPr lang="en-US" sz="1300" b="1"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b="1" kern="100">
                          <a:effectLst/>
                          <a:latin typeface="Arial" panose="020B0604020202020204" pitchFamily="34" charset="0"/>
                          <a:cs typeface="Arial" panose="020B0604020202020204" pitchFamily="34" charset="0"/>
                        </a:rPr>
                        <a:t>ML Algorithm</a:t>
                      </a:r>
                      <a:endParaRPr lang="en-US" sz="1300" b="1"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b="1" kern="100" dirty="0">
                          <a:effectLst/>
                          <a:latin typeface="Arial" panose="020B0604020202020204" pitchFamily="34" charset="0"/>
                          <a:cs typeface="Arial" panose="020B0604020202020204" pitchFamily="34" charset="0"/>
                        </a:rPr>
                        <a:t>Methodology / Features Used</a:t>
                      </a:r>
                      <a:endParaRPr lang="en-US" sz="1300" b="1"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2523584973"/>
                  </a:ext>
                </a:extLst>
              </a:tr>
              <a:tr h="654899">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Ileberi et al. [2]</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Stacked ensemble for credit risk prediction</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Random Forest + Gradient Boosting + XGBoost</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Feature selection with filter methods; high AUC (0.91) but limited interpretability</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4105666712"/>
                  </a:ext>
                </a:extLst>
              </a:tr>
              <a:tr h="432935">
                <a:tc>
                  <a:txBody>
                    <a:bodyPr/>
                    <a:lstStyle/>
                    <a:p>
                      <a:pPr marL="0" marR="0" algn="just">
                        <a:lnSpc>
                          <a:spcPct val="115000"/>
                        </a:lnSpc>
                        <a:spcAft>
                          <a:spcPts val="800"/>
                        </a:spcAft>
                        <a:buNone/>
                      </a:pPr>
                      <a:r>
                        <a:rPr lang="en-US" sz="1300" kern="100" dirty="0" err="1">
                          <a:effectLst/>
                          <a:latin typeface="Arial" panose="020B0604020202020204" pitchFamily="34" charset="0"/>
                          <a:cs typeface="Arial" panose="020B0604020202020204" pitchFamily="34" charset="0"/>
                        </a:rPr>
                        <a:t>Zolotukhin</a:t>
                      </a:r>
                      <a:r>
                        <a:rPr lang="en-US" sz="1300" kern="100" dirty="0">
                          <a:effectLst/>
                          <a:latin typeface="Arial" panose="020B0604020202020204" pitchFamily="34" charset="0"/>
                          <a:cs typeface="Arial" panose="020B0604020202020204" pitchFamily="34" charset="0"/>
                        </a:rPr>
                        <a:t> et al. [12]</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Comparative study of interpretable ML models</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Decision Trees, Rule Learners, GAM</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Focus on transparent credit scoring and regulatory trust</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2194295106"/>
                  </a:ext>
                </a:extLst>
              </a:tr>
              <a:tr h="432935">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Schmid et al. [19]</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Neural fuzzy modeling for bank credit risk</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Neural Fuzzy Network</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Combines neural learning with rule-based interpretability</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1934096177"/>
                  </a:ext>
                </a:extLst>
              </a:tr>
              <a:tr h="654899">
                <a:tc>
                  <a:txBody>
                    <a:bodyPr/>
                    <a:lstStyle/>
                    <a:p>
                      <a:pPr marL="0" marR="0" algn="just">
                        <a:lnSpc>
                          <a:spcPct val="115000"/>
                        </a:lnSpc>
                        <a:spcAft>
                          <a:spcPts val="800"/>
                        </a:spcAft>
                        <a:buNone/>
                      </a:pPr>
                      <a:r>
                        <a:rPr lang="en-US" sz="1300" kern="100" dirty="0" err="1">
                          <a:effectLst/>
                          <a:latin typeface="Arial" panose="020B0604020202020204" pitchFamily="34" charset="0"/>
                          <a:cs typeface="Arial" panose="020B0604020202020204" pitchFamily="34" charset="0"/>
                        </a:rPr>
                        <a:t>Sonani</a:t>
                      </a:r>
                      <a:r>
                        <a:rPr lang="en-US" sz="1300" kern="100" dirty="0">
                          <a:effectLst/>
                          <a:latin typeface="Arial" panose="020B0604020202020204" pitchFamily="34" charset="0"/>
                          <a:cs typeface="Arial" panose="020B0604020202020204" pitchFamily="34" charset="0"/>
                        </a:rPr>
                        <a:t> et al. [6]</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Hybrid XAI system with compliance metric</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SHAP + Counterfactual + “What-if” Analysis</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Integrates multiple explainability tools with a Regulatory Alignment Metric (RAM)</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3811156238"/>
                  </a:ext>
                </a:extLst>
              </a:tr>
              <a:tr h="432935">
                <a:tc>
                  <a:txBody>
                    <a:bodyPr/>
                    <a:lstStyle/>
                    <a:p>
                      <a:pPr marL="0" marR="0" algn="just">
                        <a:lnSpc>
                          <a:spcPct val="115000"/>
                        </a:lnSpc>
                        <a:spcAft>
                          <a:spcPts val="800"/>
                        </a:spcAft>
                        <a:buNone/>
                      </a:pPr>
                      <a:r>
                        <a:rPr lang="en-US" sz="1300" kern="100" dirty="0" err="1">
                          <a:effectLst/>
                          <a:latin typeface="Arial" panose="020B0604020202020204" pitchFamily="34" charset="0"/>
                          <a:cs typeface="Arial" panose="020B0604020202020204" pitchFamily="34" charset="0"/>
                        </a:rPr>
                        <a:t>Schetakis</a:t>
                      </a:r>
                      <a:r>
                        <a:rPr lang="en-US" sz="1300" kern="100" dirty="0">
                          <a:effectLst/>
                          <a:latin typeface="Arial" panose="020B0604020202020204" pitchFamily="34" charset="0"/>
                          <a:cs typeface="Arial" panose="020B0604020202020204" pitchFamily="34" charset="0"/>
                        </a:rPr>
                        <a:t> et al. [7]</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Quantum ML for credit scoring</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Quantum Neural Network</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Post-hoc SHAP explanations on quantum-enhanced embeddings</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3163432968"/>
                  </a:ext>
                </a:extLst>
              </a:tr>
              <a:tr h="654899">
                <a:tc>
                  <a:txBody>
                    <a:bodyPr/>
                    <a:lstStyle/>
                    <a:p>
                      <a:pPr marL="0" marR="0" algn="just">
                        <a:lnSpc>
                          <a:spcPct val="115000"/>
                        </a:lnSpc>
                        <a:spcAft>
                          <a:spcPts val="800"/>
                        </a:spcAft>
                        <a:buNone/>
                      </a:pPr>
                      <a:r>
                        <a:rPr lang="en-US" sz="1300" kern="100" dirty="0" err="1">
                          <a:effectLst/>
                          <a:latin typeface="Arial" panose="020B0604020202020204" pitchFamily="34" charset="0"/>
                          <a:cs typeface="Arial" panose="020B0604020202020204" pitchFamily="34" charset="0"/>
                        </a:rPr>
                        <a:t>Mironowicz</a:t>
                      </a:r>
                      <a:r>
                        <a:rPr lang="en-US" sz="1300" kern="100" dirty="0">
                          <a:effectLst/>
                          <a:latin typeface="Arial" panose="020B0604020202020204" pitchFamily="34" charset="0"/>
                          <a:cs typeface="Arial" panose="020B0604020202020204" pitchFamily="34" charset="0"/>
                        </a:rPr>
                        <a:t> et al. [8]</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Quantum ML applications in finance</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QML Framework</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Fraud detection, portfolio optimization, CCR modeling (conceptual only)</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2079731707"/>
                  </a:ext>
                </a:extLst>
              </a:tr>
              <a:tr h="876862">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Proposed Work (</a:t>
                      </a:r>
                      <a:r>
                        <a:rPr lang="en-US" sz="1300" kern="100" dirty="0" err="1">
                          <a:effectLst/>
                          <a:latin typeface="Arial" panose="020B0604020202020204" pitchFamily="34" charset="0"/>
                          <a:cs typeface="Arial" panose="020B0604020202020204" pitchFamily="34" charset="0"/>
                        </a:rPr>
                        <a:t>Bramhecha</a:t>
                      </a:r>
                      <a:r>
                        <a:rPr lang="en-US" sz="1300" kern="100" dirty="0">
                          <a:effectLst/>
                          <a:latin typeface="Arial" panose="020B0604020202020204" pitchFamily="34" charset="0"/>
                          <a:cs typeface="Arial" panose="020B0604020202020204" pitchFamily="34" charset="0"/>
                        </a:rPr>
                        <a:t> et al.)</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Quantum-Inspired Causal XAI for Counterparty Credit Risk</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a:effectLst/>
                          <a:latin typeface="Arial" panose="020B0604020202020204" pitchFamily="34" charset="0"/>
                          <a:cs typeface="Arial" panose="020B0604020202020204" pitchFamily="34" charset="0"/>
                        </a:rPr>
                        <a:t>Random Forest (on quantum embeddings)</a:t>
                      </a:r>
                      <a:endParaRPr lang="en-US" sz="1300" kern="10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tc>
                  <a:txBody>
                    <a:bodyPr/>
                    <a:lstStyle/>
                    <a:p>
                      <a:pPr marL="0" marR="0" algn="just">
                        <a:lnSpc>
                          <a:spcPct val="115000"/>
                        </a:lnSpc>
                        <a:spcAft>
                          <a:spcPts val="800"/>
                        </a:spcAft>
                        <a:buNone/>
                      </a:pPr>
                      <a:r>
                        <a:rPr lang="en-US" sz="1300" kern="100" dirty="0">
                          <a:effectLst/>
                          <a:latin typeface="Arial" panose="020B0604020202020204" pitchFamily="34" charset="0"/>
                          <a:cs typeface="Arial" panose="020B0604020202020204" pitchFamily="34" charset="0"/>
                        </a:rPr>
                        <a:t>Random Fourier-based quantum feature embedding, causal graph learning, and concept-level TCAV explainability with stress testing</a:t>
                      </a:r>
                      <a:endParaRPr lang="en-US" sz="1300" kern="100" dirty="0">
                        <a:effectLst/>
                        <a:latin typeface="Arial" panose="020B0604020202020204" pitchFamily="34" charset="0"/>
                        <a:ea typeface="Aptos" panose="020B0004020202020204" pitchFamily="34" charset="0"/>
                        <a:cs typeface="Arial" panose="020B0604020202020204" pitchFamily="34" charset="0"/>
                      </a:endParaRPr>
                    </a:p>
                  </a:txBody>
                  <a:tcPr marL="62911" marR="62911" marT="0" marB="0"/>
                </a:tc>
                <a:extLst>
                  <a:ext uri="{0D108BD9-81ED-4DB2-BD59-A6C34878D82A}">
                    <a16:rowId xmlns:a16="http://schemas.microsoft.com/office/drawing/2014/main" val="141947533"/>
                  </a:ext>
                </a:extLst>
              </a:tr>
            </a:tbl>
          </a:graphicData>
        </a:graphic>
      </p:graphicFrame>
    </p:spTree>
    <p:extLst>
      <p:ext uri="{BB962C8B-B14F-4D97-AF65-F5344CB8AC3E}">
        <p14:creationId xmlns:p14="http://schemas.microsoft.com/office/powerpoint/2010/main" val="2308261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600200"/>
            <a:ext cx="11407806" cy="4791722"/>
          </a:xfrm>
        </p:spPr>
        <p:txBody>
          <a:bodyPr/>
          <a:lstStyle/>
          <a:p>
            <a:pPr algn="just"/>
            <a:r>
              <a:rPr lang="en-IN" dirty="0">
                <a:latin typeface="Comic Sans MS" panose="030F0702030302020204" pitchFamily="66" charset="0"/>
              </a:rPr>
              <a:t>5. RESEARCH GAPS :</a:t>
            </a:r>
          </a:p>
          <a:p>
            <a:pPr algn="just"/>
            <a:r>
              <a:rPr lang="en-US" sz="2200" dirty="0">
                <a:latin typeface="Arial" panose="020B0604020202020204" pitchFamily="34" charset="0"/>
                <a:cs typeface="Arial" panose="020B0604020202020204" pitchFamily="34" charset="0"/>
              </a:rPr>
              <a:t>Our work addresses the following gaps identified in the literature:</a:t>
            </a:r>
          </a:p>
          <a:p>
            <a:pPr marL="342900" indent="-342900" algn="just">
              <a:buFont typeface="Arial" panose="020B0604020202020204" pitchFamily="34" charset="0"/>
              <a:buChar char="•"/>
            </a:pPr>
            <a:r>
              <a:rPr lang="en-US" sz="2200" b="1" dirty="0">
                <a:latin typeface="Arial" panose="020B0604020202020204" pitchFamily="34" charset="0"/>
                <a:cs typeface="Arial" panose="020B0604020202020204" pitchFamily="34" charset="0"/>
              </a:rPr>
              <a:t>Lack of Causal Transparency:</a:t>
            </a:r>
            <a:r>
              <a:rPr lang="en-US" sz="2200" dirty="0">
                <a:latin typeface="Arial" panose="020B0604020202020204" pitchFamily="34" charset="0"/>
                <a:cs typeface="Arial" panose="020B0604020202020204" pitchFamily="34" charset="0"/>
              </a:rPr>
              <a:t> Existing credit risk models focus on accuracy but fail to reveal causal relationships among financial factors.</a:t>
            </a:r>
          </a:p>
          <a:p>
            <a:pPr marL="342900" indent="-342900" algn="just">
              <a:buFont typeface="Arial" panose="020B0604020202020204" pitchFamily="34" charset="0"/>
              <a:buChar char="•"/>
            </a:pPr>
            <a:r>
              <a:rPr lang="en-US" sz="2200" b="1" dirty="0">
                <a:latin typeface="Arial" panose="020B0604020202020204" pitchFamily="34" charset="0"/>
                <a:cs typeface="Arial" panose="020B0604020202020204" pitchFamily="34" charset="0"/>
              </a:rPr>
              <a:t>Poor Explainability of ML Models:</a:t>
            </a:r>
            <a:r>
              <a:rPr lang="en-US" sz="2200" dirty="0">
                <a:latin typeface="Arial" panose="020B0604020202020204" pitchFamily="34" charset="0"/>
                <a:cs typeface="Arial" panose="020B0604020202020204" pitchFamily="34" charset="0"/>
              </a:rPr>
              <a:t> Ensemble and deep learning models act as black boxes, limiting trust and regulatory compliance.</a:t>
            </a:r>
          </a:p>
          <a:p>
            <a:pPr marL="342900" indent="-342900" algn="just">
              <a:buFont typeface="Arial" panose="020B0604020202020204" pitchFamily="34" charset="0"/>
              <a:buChar char="•"/>
            </a:pPr>
            <a:r>
              <a:rPr lang="en-US" sz="2200" b="1" dirty="0">
                <a:latin typeface="Arial" panose="020B0604020202020204" pitchFamily="34" charset="0"/>
                <a:cs typeface="Arial" panose="020B0604020202020204" pitchFamily="34" charset="0"/>
              </a:rPr>
              <a:t>Limited Use of Quantum-Inspired Techniques:</a:t>
            </a:r>
            <a:r>
              <a:rPr lang="en-US" sz="2200" dirty="0">
                <a:latin typeface="Arial" panose="020B0604020202020204" pitchFamily="34" charset="0"/>
                <a:cs typeface="Arial" panose="020B0604020202020204" pitchFamily="34" charset="0"/>
              </a:rPr>
              <a:t> Quantum approaches in finance are mostly theoretical and not integrated with interpretable AI.</a:t>
            </a:r>
          </a:p>
          <a:p>
            <a:pPr marL="342900" indent="-342900" algn="just">
              <a:buFont typeface="Arial" panose="020B0604020202020204" pitchFamily="34" charset="0"/>
              <a:buChar char="•"/>
            </a:pPr>
            <a:r>
              <a:rPr lang="en-US" sz="2200" b="1" dirty="0">
                <a:latin typeface="Arial" panose="020B0604020202020204" pitchFamily="34" charset="0"/>
                <a:cs typeface="Arial" panose="020B0604020202020204" pitchFamily="34" charset="0"/>
              </a:rPr>
              <a:t>Absence of Stress-Aware Insights:</a:t>
            </a:r>
            <a:r>
              <a:rPr lang="en-US" sz="2200" dirty="0">
                <a:latin typeface="Arial" panose="020B0604020202020204" pitchFamily="34" charset="0"/>
                <a:cs typeface="Arial" panose="020B0604020202020204" pitchFamily="34" charset="0"/>
              </a:rPr>
              <a:t> Current frameworks rarely assess model behavior under macroeconomic shocks, reducing real-world reliability.</a:t>
            </a:r>
          </a:p>
          <a:p>
            <a:pPr algn="just"/>
            <a:endParaRPr lang="en-IN" dirty="0">
              <a:latin typeface="Comic Sans MS" panose="030F0702030302020204" pitchFamily="66" charset="0"/>
            </a:endParaRPr>
          </a:p>
        </p:txBody>
      </p:sp>
      <p:grpSp>
        <p:nvGrpSpPr>
          <p:cNvPr id="8" name="Group 7">
            <a:extLst>
              <a:ext uri="{FF2B5EF4-FFF2-40B4-BE49-F238E27FC236}">
                <a16:creationId xmlns:a16="http://schemas.microsoft.com/office/drawing/2014/main" id="{049574B4-EAAF-0B55-A241-AE87D8BD1D83}"/>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D77E242E-BB87-9856-3DB3-EE01C5415C21}"/>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8211C83C-1A81-9808-FDCA-77DED6FC6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CB321D97-1215-FFCE-7898-65B0068F8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2881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3163077" y="1931437"/>
            <a:ext cx="6783355" cy="4049486"/>
          </a:xfrm>
        </p:spPr>
        <p:txBody>
          <a:bodyPr/>
          <a:lstStyle/>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a:p>
            <a:pPr algn="l"/>
            <a:endParaRPr lang="en-IN" dirty="0">
              <a:latin typeface="Comic Sans MS" panose="030F0702030302020204" pitchFamily="66" charset="0"/>
            </a:endParaRPr>
          </a:p>
        </p:txBody>
      </p:sp>
      <p:grpSp>
        <p:nvGrpSpPr>
          <p:cNvPr id="8" name="Group 7">
            <a:extLst>
              <a:ext uri="{FF2B5EF4-FFF2-40B4-BE49-F238E27FC236}">
                <a16:creationId xmlns:a16="http://schemas.microsoft.com/office/drawing/2014/main" id="{1FF2B403-7203-D390-9838-758E0AA4EA34}"/>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201540E7-303D-E93E-ECEC-6EE23ADF6548}"/>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BED4520E-980A-0AC5-EBA3-F0C0D6BBE2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9DCA4ABC-6B14-952D-88C6-9445FD691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pic>
        <p:nvPicPr>
          <p:cNvPr id="5" name="Image 5">
            <a:extLst>
              <a:ext uri="{FF2B5EF4-FFF2-40B4-BE49-F238E27FC236}">
                <a16:creationId xmlns:a16="http://schemas.microsoft.com/office/drawing/2014/main" id="{EE198876-06C0-CACA-5FBA-96D16F3ECF14}"/>
              </a:ext>
            </a:extLst>
          </p:cNvPr>
          <p:cNvPicPr>
            <a:picLocks/>
          </p:cNvPicPr>
          <p:nvPr/>
        </p:nvPicPr>
        <p:blipFill>
          <a:blip r:embed="rId4" cstate="print"/>
          <a:stretch>
            <a:fillRect/>
          </a:stretch>
        </p:blipFill>
        <p:spPr>
          <a:xfrm>
            <a:off x="3163077" y="1637296"/>
            <a:ext cx="6783356" cy="4637767"/>
          </a:xfrm>
          <a:prstGeom prst="rect">
            <a:avLst/>
          </a:prstGeom>
        </p:spPr>
      </p:pic>
      <p:sp>
        <p:nvSpPr>
          <p:cNvPr id="2" name="TextBox 1">
            <a:extLst>
              <a:ext uri="{FF2B5EF4-FFF2-40B4-BE49-F238E27FC236}">
                <a16:creationId xmlns:a16="http://schemas.microsoft.com/office/drawing/2014/main" id="{EA022140-9507-89EC-17EA-E1F060D7E83D}"/>
              </a:ext>
            </a:extLst>
          </p:cNvPr>
          <p:cNvSpPr txBox="1"/>
          <p:nvPr/>
        </p:nvSpPr>
        <p:spPr>
          <a:xfrm>
            <a:off x="4342956" y="5980923"/>
            <a:ext cx="3506088" cy="646331"/>
          </a:xfrm>
          <a:prstGeom prst="rect">
            <a:avLst/>
          </a:prstGeom>
          <a:noFill/>
        </p:spPr>
        <p:txBody>
          <a:bodyPr wrap="none" rtlCol="0">
            <a:spAutoFit/>
          </a:bodyPr>
          <a:lstStyle/>
          <a:p>
            <a:r>
              <a:rPr lang="en-IN" dirty="0">
                <a:latin typeface="Arial" panose="020B0604020202020204" pitchFamily="34" charset="0"/>
                <a:cs typeface="Arial" panose="020B0604020202020204" pitchFamily="34" charset="0"/>
              </a:rPr>
              <a:t> Fig. 1. Proposed Block Diagram</a:t>
            </a:r>
          </a:p>
          <a:p>
            <a:endParaRPr lang="en-US" dirty="0"/>
          </a:p>
        </p:txBody>
      </p:sp>
      <p:sp>
        <p:nvSpPr>
          <p:cNvPr id="6" name="TextBox 5">
            <a:extLst>
              <a:ext uri="{FF2B5EF4-FFF2-40B4-BE49-F238E27FC236}">
                <a16:creationId xmlns:a16="http://schemas.microsoft.com/office/drawing/2014/main" id="{C59A939C-E9E3-C558-6131-F168B5C20BA5}"/>
              </a:ext>
            </a:extLst>
          </p:cNvPr>
          <p:cNvSpPr txBox="1"/>
          <p:nvPr/>
        </p:nvSpPr>
        <p:spPr>
          <a:xfrm>
            <a:off x="816578" y="1746771"/>
            <a:ext cx="6097554" cy="430887"/>
          </a:xfrm>
          <a:prstGeom prst="rect">
            <a:avLst/>
          </a:prstGeom>
          <a:noFill/>
        </p:spPr>
        <p:txBody>
          <a:bodyPr wrap="square">
            <a:spAutoFit/>
          </a:bodyPr>
          <a:lstStyle/>
          <a:p>
            <a:r>
              <a:rPr lang="en-IN" sz="2200" b="1" dirty="0">
                <a:latin typeface="Arial" panose="020B0604020202020204" pitchFamily="34" charset="0"/>
                <a:cs typeface="Arial" panose="020B0604020202020204" pitchFamily="34" charset="0"/>
              </a:rPr>
              <a:t> Proposed Methodology:</a:t>
            </a:r>
          </a:p>
        </p:txBody>
      </p:sp>
    </p:spTree>
    <p:extLst>
      <p:ext uri="{BB962C8B-B14F-4D97-AF65-F5344CB8AC3E}">
        <p14:creationId xmlns:p14="http://schemas.microsoft.com/office/powerpoint/2010/main" val="240353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E1260-19E1-69EC-729C-3CCD2D17F32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13BE574-DFFE-AC5A-CE66-66A86BE79EDA}"/>
              </a:ext>
            </a:extLst>
          </p:cNvPr>
          <p:cNvSpPr>
            <a:spLocks noGrp="1"/>
          </p:cNvSpPr>
          <p:nvPr>
            <p:ph type="subTitle" idx="1"/>
          </p:nvPr>
        </p:nvSpPr>
        <p:spPr>
          <a:xfrm>
            <a:off x="461639" y="1600200"/>
            <a:ext cx="11407806" cy="4791722"/>
          </a:xfrm>
        </p:spPr>
        <p:txBody>
          <a:bodyPr>
            <a:noAutofit/>
          </a:bodyPr>
          <a:lstStyle/>
          <a:p>
            <a:pPr algn="just"/>
            <a:r>
              <a:rPr lang="en-IN" sz="2200" b="1" dirty="0">
                <a:latin typeface="Arial" panose="020B0604020202020204" pitchFamily="34" charset="0"/>
                <a:cs typeface="Arial" panose="020B0604020202020204" pitchFamily="34" charset="0"/>
              </a:rPr>
              <a:t>Layers Description</a:t>
            </a:r>
          </a:p>
          <a:p>
            <a:pPr algn="just"/>
            <a:endParaRPr lang="en-IN" sz="2200" b="1" dirty="0">
              <a:latin typeface="Arial" panose="020B0604020202020204" pitchFamily="34" charset="0"/>
              <a:cs typeface="Arial" panose="020B0604020202020204" pitchFamily="34" charset="0"/>
            </a:endParaRPr>
          </a:p>
          <a:p>
            <a:pPr marL="457200" indent="-457200" algn="just">
              <a:buAutoNum type="arabicPeriod"/>
            </a:pPr>
            <a:r>
              <a:rPr lang="en-US" sz="2000" dirty="0">
                <a:latin typeface="Arial" panose="020B0604020202020204" pitchFamily="34" charset="0"/>
                <a:cs typeface="Arial" panose="020B0604020202020204" pitchFamily="34" charset="0"/>
              </a:rPr>
              <a:t>Data Preprocessing Layer: A stratified subset of 5,000 samples is selected, six core features are retained, and missing values are imputed using median replacement.</a:t>
            </a:r>
          </a:p>
          <a:p>
            <a:pPr marL="457200" indent="-457200" algn="just">
              <a:buAutoNum type="arabicPeriod"/>
            </a:pPr>
            <a:r>
              <a:rPr lang="en-US" sz="2000" dirty="0">
                <a:latin typeface="Arial" panose="020B0604020202020204" pitchFamily="34" charset="0"/>
                <a:cs typeface="Arial" panose="020B0604020202020204" pitchFamily="34" charset="0"/>
              </a:rPr>
              <a:t>Quantum-Inspired Feature Embedding Layer: The selected features are transformed into a 21-dimensional space using normalization, sinusoidal functions, and Random Fourier Feature embeddings.</a:t>
            </a:r>
          </a:p>
          <a:p>
            <a:pPr marL="457200" indent="-457200" algn="just">
              <a:buAutoNum type="arabicPeriod"/>
            </a:pPr>
            <a:r>
              <a:rPr lang="en-US" sz="2000" dirty="0">
                <a:latin typeface="Arial" panose="020B0604020202020204" pitchFamily="34" charset="0"/>
                <a:cs typeface="Arial" panose="020B0604020202020204" pitchFamily="34" charset="0"/>
              </a:rPr>
              <a:t>Causal Discovery Layer: Causal relationships are computed using Pearson correlation and mutual information to construct a causal graph showing directional influence among variables. 30 causal relationships are discovered.</a:t>
            </a:r>
          </a:p>
          <a:p>
            <a:pPr marL="457200" indent="-457200" algn="just">
              <a:buAutoNum type="arabicPeriod"/>
            </a:pPr>
            <a:r>
              <a:rPr lang="en-US" sz="2000" dirty="0">
                <a:latin typeface="Arial" panose="020B0604020202020204" pitchFamily="34" charset="0"/>
                <a:cs typeface="Arial" panose="020B0604020202020204" pitchFamily="34" charset="0"/>
              </a:rPr>
              <a:t>Risk Prediction &amp; Explainability Layer: A Random Forest model is trained on the embedded features with SMOTE balancing, and TCAV tells how much each concept(Liquidity, Credit Exposure, Credit Score) influence the prediction.</a:t>
            </a:r>
          </a:p>
          <a:p>
            <a:pPr marL="457200" indent="-457200" algn="just">
              <a:buAutoNum type="arabicPeriod"/>
            </a:pPr>
            <a:r>
              <a:rPr lang="en-US" sz="2000" dirty="0">
                <a:latin typeface="Arial" panose="020B0604020202020204" pitchFamily="34" charset="0"/>
                <a:cs typeface="Arial" panose="020B0604020202020204" pitchFamily="34" charset="0"/>
              </a:rPr>
              <a:t>Stress Testing &amp; Visualization Layer: Evaluate how the model behaves under: Interest Rate Shocks, Liquidity Crisis, Credit Crunch.</a:t>
            </a:r>
            <a:endParaRPr lang="en-IN" sz="2000"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7B90E956-46AB-ABFD-23FA-AF228BE915C8}"/>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E56FD3A0-ED40-177F-54E2-1A8D55B8E68B}"/>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F1EF506C-1B47-3C9D-6A91-880A056B4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2C940EE7-9B3A-F157-AA1D-FA2B37EDCA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109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AC3B-5B75-E51B-8DF9-5FE3B51CC82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FA8F5C2-0AE5-6805-5AF5-FCAB5232D46E}"/>
              </a:ext>
            </a:extLst>
          </p:cNvPr>
          <p:cNvSpPr>
            <a:spLocks noGrp="1"/>
          </p:cNvSpPr>
          <p:nvPr>
            <p:ph type="subTitle" idx="1"/>
          </p:nvPr>
        </p:nvSpPr>
        <p:spPr>
          <a:xfrm>
            <a:off x="461639" y="1600199"/>
            <a:ext cx="11407806" cy="5154283"/>
          </a:xfrm>
        </p:spPr>
        <p:txBody>
          <a:bodyPr>
            <a:noAutofit/>
          </a:bodyPr>
          <a:lstStyle/>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Fig 2. Causal Graph of Quantum Enhanced Features</a:t>
            </a:r>
          </a:p>
        </p:txBody>
      </p:sp>
      <p:grpSp>
        <p:nvGrpSpPr>
          <p:cNvPr id="8" name="Group 7">
            <a:extLst>
              <a:ext uri="{FF2B5EF4-FFF2-40B4-BE49-F238E27FC236}">
                <a16:creationId xmlns:a16="http://schemas.microsoft.com/office/drawing/2014/main" id="{78187971-6522-3A5D-D91D-01634580F2CA}"/>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59BAC907-A1C0-3456-DDC4-4647C34679E7}"/>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F032A619-8D54-724E-3D16-FD055E29C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38254EB3-7170-D263-2AFD-81C431BEF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a:extLst>
              <a:ext uri="{FF2B5EF4-FFF2-40B4-BE49-F238E27FC236}">
                <a16:creationId xmlns:a16="http://schemas.microsoft.com/office/drawing/2014/main" id="{3F1FDFFE-353B-3B96-4CA2-4AE29CE7235A}"/>
              </a:ext>
            </a:extLst>
          </p:cNvPr>
          <p:cNvPicPr>
            <a:picLocks noChangeAspect="1"/>
          </p:cNvPicPr>
          <p:nvPr/>
        </p:nvPicPr>
        <p:blipFill>
          <a:blip r:embed="rId4"/>
          <a:stretch>
            <a:fillRect/>
          </a:stretch>
        </p:blipFill>
        <p:spPr>
          <a:xfrm>
            <a:off x="3322959" y="1772727"/>
            <a:ext cx="5685166" cy="4472331"/>
          </a:xfrm>
          <a:prstGeom prst="rect">
            <a:avLst/>
          </a:prstGeom>
        </p:spPr>
      </p:pic>
    </p:spTree>
    <p:extLst>
      <p:ext uri="{BB962C8B-B14F-4D97-AF65-F5344CB8AC3E}">
        <p14:creationId xmlns:p14="http://schemas.microsoft.com/office/powerpoint/2010/main" val="3689521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04E5E-24FB-3E28-FA34-3F61D5C351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944F229-8FF8-2CB8-D1C5-2913524CDF92}"/>
              </a:ext>
            </a:extLst>
          </p:cNvPr>
          <p:cNvSpPr>
            <a:spLocks noGrp="1"/>
          </p:cNvSpPr>
          <p:nvPr>
            <p:ph type="subTitle" idx="1"/>
          </p:nvPr>
        </p:nvSpPr>
        <p:spPr>
          <a:xfrm>
            <a:off x="461639" y="1600199"/>
            <a:ext cx="11407806" cy="5197415"/>
          </a:xfrm>
        </p:spPr>
        <p:txBody>
          <a:bodyPr>
            <a:normAutofit fontScale="70000" lnSpcReduction="20000"/>
          </a:bodyPr>
          <a:lstStyle/>
          <a:p>
            <a:pPr algn="l"/>
            <a:r>
              <a:rPr lang="en-IN" sz="3400" dirty="0">
                <a:latin typeface="Comic Sans MS" panose="030F0702030302020204" pitchFamily="66" charset="0"/>
                <a:cs typeface="Arial" panose="020B0604020202020204" pitchFamily="34" charset="0"/>
              </a:rPr>
              <a:t>7. RESULTS &amp; DISCUSSION: </a:t>
            </a:r>
          </a:p>
          <a:p>
            <a:pPr algn="l"/>
            <a:endParaRPr lang="en-US" b="1" dirty="0">
              <a:latin typeface="Arial" panose="020B0604020202020204" pitchFamily="34" charset="0"/>
              <a:cs typeface="Arial" panose="020B0604020202020204" pitchFamily="34" charset="0"/>
            </a:endParaRPr>
          </a:p>
          <a:p>
            <a:pPr algn="l"/>
            <a:r>
              <a:rPr lang="en-US" sz="2600" b="1" dirty="0">
                <a:latin typeface="Arial" panose="020B0604020202020204" pitchFamily="34" charset="0"/>
                <a:cs typeface="Arial" panose="020B0604020202020204" pitchFamily="34" charset="0"/>
              </a:rPr>
              <a:t>Performance</a:t>
            </a:r>
          </a:p>
          <a:p>
            <a:pPr marL="342900" indent="-342900" algn="l">
              <a:buFont typeface="Arial" panose="020B0604020202020204" pitchFamily="34" charset="0"/>
              <a:buChar char="•"/>
            </a:pPr>
            <a:r>
              <a:rPr lang="en-US" sz="2600" dirty="0">
                <a:latin typeface="Arial" panose="020B0604020202020204" pitchFamily="34" charset="0"/>
                <a:cs typeface="Arial" panose="020B0604020202020204" pitchFamily="34" charset="0"/>
              </a:rPr>
              <a:t>Accuracy: </a:t>
            </a:r>
            <a:r>
              <a:rPr lang="en-US" sz="2600" b="1" dirty="0">
                <a:latin typeface="Arial" panose="020B0604020202020204" pitchFamily="34" charset="0"/>
                <a:cs typeface="Arial" panose="020B0604020202020204" pitchFamily="34" charset="0"/>
              </a:rPr>
              <a:t>85%</a:t>
            </a:r>
            <a:endParaRPr lang="en-US" sz="26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600" dirty="0">
                <a:latin typeface="Arial" panose="020B0604020202020204" pitchFamily="34" charset="0"/>
                <a:cs typeface="Arial" panose="020B0604020202020204" pitchFamily="34" charset="0"/>
              </a:rPr>
              <a:t>AUC-ROC: </a:t>
            </a:r>
            <a:r>
              <a:rPr lang="en-US" sz="2600" b="1" dirty="0">
                <a:latin typeface="Arial" panose="020B0604020202020204" pitchFamily="34" charset="0"/>
                <a:cs typeface="Arial" panose="020B0604020202020204" pitchFamily="34" charset="0"/>
              </a:rPr>
              <a:t>0.559 </a:t>
            </a:r>
            <a:r>
              <a:rPr lang="en-US" sz="2600" dirty="0">
                <a:latin typeface="Arial" panose="020B0604020202020204" pitchFamily="34" charset="0"/>
                <a:cs typeface="Arial" panose="020B0604020202020204" pitchFamily="34" charset="0"/>
              </a:rPr>
              <a:t>(moderate because the default class is very rare)</a:t>
            </a:r>
          </a:p>
          <a:p>
            <a:pPr marL="342900" indent="-342900" algn="l">
              <a:buFont typeface="Arial" panose="020B0604020202020204" pitchFamily="34" charset="0"/>
              <a:buChar char="•"/>
            </a:pPr>
            <a:r>
              <a:rPr lang="en-US" sz="2600" dirty="0">
                <a:latin typeface="Arial" panose="020B0604020202020204" pitchFamily="34" charset="0"/>
                <a:cs typeface="Arial" panose="020B0604020202020204" pitchFamily="34" charset="0"/>
              </a:rPr>
              <a:t>Default recall: </a:t>
            </a:r>
            <a:r>
              <a:rPr lang="en-US" sz="2600" b="1" dirty="0">
                <a:latin typeface="Arial" panose="020B0604020202020204" pitchFamily="34" charset="0"/>
                <a:cs typeface="Arial" panose="020B0604020202020204" pitchFamily="34" charset="0"/>
              </a:rPr>
              <a:t>0.03 </a:t>
            </a:r>
            <a:r>
              <a:rPr lang="en-US" sz="2600" dirty="0">
                <a:latin typeface="Arial" panose="020B0604020202020204" pitchFamily="34" charset="0"/>
                <a:cs typeface="Arial" panose="020B0604020202020204" pitchFamily="34" charset="0"/>
              </a:rPr>
              <a:t>(a known issue due to SMOTE and imbalance)</a:t>
            </a:r>
          </a:p>
          <a:p>
            <a:pPr algn="l"/>
            <a:r>
              <a:rPr lang="en-US" sz="2600" b="1" dirty="0">
                <a:latin typeface="Arial" panose="020B0604020202020204" pitchFamily="34" charset="0"/>
                <a:cs typeface="Arial" panose="020B0604020202020204" pitchFamily="34" charset="0"/>
              </a:rPr>
              <a:t>Explainability Insights</a:t>
            </a:r>
          </a:p>
          <a:p>
            <a:pPr algn="l"/>
            <a:r>
              <a:rPr lang="en-US" sz="2600" dirty="0">
                <a:latin typeface="Arial" panose="020B0604020202020204" pitchFamily="34" charset="0"/>
                <a:cs typeface="Arial" panose="020B0604020202020204" pitchFamily="34" charset="0"/>
              </a:rPr>
              <a:t>TCAV scores show the relative importance:</a:t>
            </a:r>
          </a:p>
          <a:p>
            <a:pPr marL="342900" indent="-342900" algn="l">
              <a:buFont typeface="Arial" panose="020B0604020202020204" pitchFamily="34" charset="0"/>
              <a:buChar char="•"/>
            </a:pPr>
            <a:r>
              <a:rPr lang="en-US" sz="2600" b="1" dirty="0">
                <a:latin typeface="Arial" panose="020B0604020202020204" pitchFamily="34" charset="0"/>
                <a:cs typeface="Arial" panose="020B0604020202020204" pitchFamily="34" charset="0"/>
              </a:rPr>
              <a:t>Credit Score</a:t>
            </a:r>
            <a:r>
              <a:rPr lang="en-US" sz="2600" dirty="0">
                <a:latin typeface="Arial" panose="020B0604020202020204" pitchFamily="34" charset="0"/>
                <a:cs typeface="Arial" panose="020B0604020202020204" pitchFamily="34" charset="0"/>
              </a:rPr>
              <a:t> — 0.024 (most important &amp; influential)</a:t>
            </a:r>
          </a:p>
          <a:p>
            <a:pPr marL="342900" indent="-342900" algn="l">
              <a:buFont typeface="Arial" panose="020B0604020202020204" pitchFamily="34" charset="0"/>
              <a:buChar char="•"/>
            </a:pPr>
            <a:r>
              <a:rPr lang="en-US" sz="2600" b="1" dirty="0">
                <a:latin typeface="Arial" panose="020B0604020202020204" pitchFamily="34" charset="0"/>
                <a:cs typeface="Arial" panose="020B0604020202020204" pitchFamily="34" charset="0"/>
              </a:rPr>
              <a:t>Liquidity</a:t>
            </a:r>
            <a:r>
              <a:rPr lang="en-US" sz="2600" dirty="0">
                <a:latin typeface="Arial" panose="020B0604020202020204" pitchFamily="34" charset="0"/>
                <a:cs typeface="Arial" panose="020B0604020202020204" pitchFamily="34" charset="0"/>
              </a:rPr>
              <a:t> — 0.018</a:t>
            </a:r>
          </a:p>
          <a:p>
            <a:pPr marL="342900" indent="-342900" algn="l">
              <a:buFont typeface="Arial" panose="020B0604020202020204" pitchFamily="34" charset="0"/>
              <a:buChar char="•"/>
            </a:pPr>
            <a:r>
              <a:rPr lang="en-US" sz="2600" b="1" dirty="0">
                <a:latin typeface="Arial" panose="020B0604020202020204" pitchFamily="34" charset="0"/>
                <a:cs typeface="Arial" panose="020B0604020202020204" pitchFamily="34" charset="0"/>
              </a:rPr>
              <a:t>Credit Exposure</a:t>
            </a:r>
            <a:r>
              <a:rPr lang="en-US" sz="2600" dirty="0">
                <a:latin typeface="Arial" panose="020B0604020202020204" pitchFamily="34" charset="0"/>
                <a:cs typeface="Arial" panose="020B0604020202020204" pitchFamily="34" charset="0"/>
              </a:rPr>
              <a:t> — 0.016</a:t>
            </a:r>
          </a:p>
          <a:p>
            <a:pPr algn="l"/>
            <a:r>
              <a:rPr lang="en-US" sz="2600" b="1" dirty="0">
                <a:latin typeface="Arial" panose="020B0604020202020204" pitchFamily="34" charset="0"/>
                <a:cs typeface="Arial" panose="020B0604020202020204" pitchFamily="34" charset="0"/>
              </a:rPr>
              <a:t>Stress Testing Results</a:t>
            </a:r>
          </a:p>
          <a:p>
            <a:pPr algn="l"/>
            <a:r>
              <a:rPr lang="en-US" sz="2600" dirty="0">
                <a:latin typeface="Arial" panose="020B0604020202020204" pitchFamily="34" charset="0"/>
                <a:cs typeface="Arial" panose="020B0604020202020204" pitchFamily="34" charset="0"/>
              </a:rPr>
              <a:t>The model remains </a:t>
            </a:r>
            <a:r>
              <a:rPr lang="en-US" sz="2600" b="1" dirty="0">
                <a:latin typeface="Arial" panose="020B0604020202020204" pitchFamily="34" charset="0"/>
                <a:cs typeface="Arial" panose="020B0604020202020204" pitchFamily="34" charset="0"/>
              </a:rPr>
              <a:t>stable</a:t>
            </a:r>
            <a:r>
              <a:rPr lang="en-US" sz="2600" dirty="0">
                <a:latin typeface="Arial" panose="020B0604020202020204" pitchFamily="34" charset="0"/>
                <a:cs typeface="Arial" panose="020B0604020202020204" pitchFamily="34" charset="0"/>
              </a:rPr>
              <a:t> under shocks:</a:t>
            </a:r>
          </a:p>
          <a:p>
            <a:pPr marL="342900" indent="-342900" algn="l">
              <a:buFont typeface="Arial" panose="020B0604020202020204" pitchFamily="34" charset="0"/>
              <a:buChar char="•"/>
            </a:pPr>
            <a:r>
              <a:rPr lang="en-US" sz="2600" dirty="0">
                <a:latin typeface="Arial" panose="020B0604020202020204" pitchFamily="34" charset="0"/>
                <a:cs typeface="Arial" panose="020B0604020202020204" pitchFamily="34" charset="0"/>
              </a:rPr>
              <a:t>Only small increases in default risk on average</a:t>
            </a:r>
          </a:p>
          <a:p>
            <a:pPr marL="342900" indent="-342900" algn="l">
              <a:buFont typeface="Arial" panose="020B0604020202020204" pitchFamily="34" charset="0"/>
              <a:buChar char="•"/>
            </a:pPr>
            <a:r>
              <a:rPr lang="en-US" sz="2600" dirty="0">
                <a:latin typeface="Arial" panose="020B0604020202020204" pitchFamily="34" charset="0"/>
                <a:cs typeface="Arial" panose="020B0604020202020204" pitchFamily="34" charset="0"/>
              </a:rPr>
              <a:t>But high-risk clients show significant spikes (up to 0.20)</a:t>
            </a:r>
          </a:p>
          <a:p>
            <a:pPr algn="l"/>
            <a:r>
              <a:rPr lang="en-US" sz="2600" dirty="0">
                <a:latin typeface="Arial" panose="020B0604020202020204" pitchFamily="34" charset="0"/>
                <a:cs typeface="Arial" panose="020B0604020202020204" pitchFamily="34" charset="0"/>
              </a:rPr>
              <a:t>This indicates </a:t>
            </a:r>
            <a:r>
              <a:rPr lang="en-US" sz="2600" b="1" dirty="0">
                <a:latin typeface="Arial" panose="020B0604020202020204" pitchFamily="34" charset="0"/>
                <a:cs typeface="Arial" panose="020B0604020202020204" pitchFamily="34" charset="0"/>
              </a:rPr>
              <a:t>realistic financial behavior</a:t>
            </a:r>
            <a:r>
              <a:rPr lang="en-US" sz="2600" dirty="0">
                <a:latin typeface="Arial" panose="020B0604020202020204" pitchFamily="34" charset="0"/>
                <a:cs typeface="Arial" panose="020B0604020202020204" pitchFamily="34" charset="0"/>
              </a:rPr>
              <a:t>.</a:t>
            </a:r>
          </a:p>
          <a:p>
            <a:pPr algn="l"/>
            <a:endParaRPr lang="en-IN"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040E182A-2299-2EA8-BBA3-EFE3CDFDE1EF}"/>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4F5B9E27-4AC2-4E89-C9FF-E9826D685DFF}"/>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6F46478C-F687-E309-F207-7AD6EF038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D803FEBC-3239-B571-B661-311E305B9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377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3B1B9-771B-FEFD-4349-DD1FF90B10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9000022-048E-2241-2611-0AD856ADA2EA}"/>
              </a:ext>
            </a:extLst>
          </p:cNvPr>
          <p:cNvSpPr>
            <a:spLocks noGrp="1"/>
          </p:cNvSpPr>
          <p:nvPr>
            <p:ph type="subTitle" idx="1"/>
          </p:nvPr>
        </p:nvSpPr>
        <p:spPr>
          <a:xfrm>
            <a:off x="461639" y="1600199"/>
            <a:ext cx="11407806" cy="5162909"/>
          </a:xfrm>
        </p:spPr>
        <p:txBody>
          <a:bodyPr>
            <a:normAutofit/>
          </a:bodyPr>
          <a:lstStyle/>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just"/>
            <a:endParaRPr lang="en-IN" sz="1800" dirty="0">
              <a:latin typeface="Arial" panose="020B0604020202020204" pitchFamily="34" charset="0"/>
              <a:cs typeface="Arial" panose="020B0604020202020204" pitchFamily="34" charset="0"/>
            </a:endParaRPr>
          </a:p>
          <a:p>
            <a:pPr algn="l"/>
            <a:r>
              <a:rPr lang="en-IN" sz="1800" dirty="0">
                <a:latin typeface="Arial" panose="020B0604020202020204" pitchFamily="34" charset="0"/>
                <a:cs typeface="Arial" panose="020B0604020202020204" pitchFamily="34" charset="0"/>
              </a:rPr>
              <a:t>			       Table 2. Performance Metrics of Risk Model</a:t>
            </a: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r>
              <a:rPr lang="en-IN" sz="1800" dirty="0">
                <a:latin typeface="Arial" panose="020B0604020202020204" pitchFamily="34" charset="0"/>
                <a:cs typeface="Arial" panose="020B0604020202020204" pitchFamily="34" charset="0"/>
              </a:rPr>
              <a:t>			      Table 3. TCAV Scores Across Stress Scenarios</a:t>
            </a:r>
          </a:p>
        </p:txBody>
      </p:sp>
      <p:grpSp>
        <p:nvGrpSpPr>
          <p:cNvPr id="8" name="Group 7">
            <a:extLst>
              <a:ext uri="{FF2B5EF4-FFF2-40B4-BE49-F238E27FC236}">
                <a16:creationId xmlns:a16="http://schemas.microsoft.com/office/drawing/2014/main" id="{10D3DE08-7BBB-6DFD-8755-AC14D49308FD}"/>
              </a:ext>
            </a:extLst>
          </p:cNvPr>
          <p:cNvGrpSpPr/>
          <p:nvPr/>
        </p:nvGrpSpPr>
        <p:grpSpPr>
          <a:xfrm>
            <a:off x="174593" y="200724"/>
            <a:ext cx="11842811" cy="896775"/>
            <a:chOff x="55823" y="-142244"/>
            <a:chExt cx="12136177" cy="1398277"/>
          </a:xfrm>
        </p:grpSpPr>
        <p:sp>
          <p:nvSpPr>
            <p:cNvPr id="9" name="TextBox 8">
              <a:extLst>
                <a:ext uri="{FF2B5EF4-FFF2-40B4-BE49-F238E27FC236}">
                  <a16:creationId xmlns:a16="http://schemas.microsoft.com/office/drawing/2014/main" id="{63DB75AC-0959-8B06-AD81-08A864A5420E}"/>
                </a:ext>
              </a:extLst>
            </p:cNvPr>
            <p:cNvSpPr txBox="1"/>
            <p:nvPr/>
          </p:nvSpPr>
          <p:spPr>
            <a:xfrm>
              <a:off x="1371599" y="189572"/>
              <a:ext cx="9567747" cy="1066461"/>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1B42CD6F-899A-16B7-FF4A-4EA6B4378C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9333C88D-194C-8956-C38E-41EB28CF8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Table 1">
            <a:extLst>
              <a:ext uri="{FF2B5EF4-FFF2-40B4-BE49-F238E27FC236}">
                <a16:creationId xmlns:a16="http://schemas.microsoft.com/office/drawing/2014/main" id="{BFDBA3EC-A2AC-47FB-A8C9-8151989BFC40}"/>
              </a:ext>
            </a:extLst>
          </p:cNvPr>
          <p:cNvGraphicFramePr>
            <a:graphicFrameLocks noGrp="1"/>
          </p:cNvGraphicFramePr>
          <p:nvPr>
            <p:extLst>
              <p:ext uri="{D42A27DB-BD31-4B8C-83A1-F6EECF244321}">
                <p14:modId xmlns:p14="http://schemas.microsoft.com/office/powerpoint/2010/main" val="1082777825"/>
              </p:ext>
            </p:extLst>
          </p:nvPr>
        </p:nvGraphicFramePr>
        <p:xfrm>
          <a:off x="2811732" y="1778000"/>
          <a:ext cx="6568536" cy="1651000"/>
        </p:xfrm>
        <a:graphic>
          <a:graphicData uri="http://schemas.openxmlformats.org/drawingml/2006/table">
            <a:tbl>
              <a:tblPr firstRow="1" bandRow="1"/>
              <a:tblGrid>
                <a:gridCol w="1720491">
                  <a:extLst>
                    <a:ext uri="{9D8B030D-6E8A-4147-A177-3AD203B41FA5}">
                      <a16:colId xmlns:a16="http://schemas.microsoft.com/office/drawing/2014/main" val="706164329"/>
                    </a:ext>
                  </a:extLst>
                </a:gridCol>
                <a:gridCol w="1337094">
                  <a:extLst>
                    <a:ext uri="{9D8B030D-6E8A-4147-A177-3AD203B41FA5}">
                      <a16:colId xmlns:a16="http://schemas.microsoft.com/office/drawing/2014/main" val="3148630485"/>
                    </a:ext>
                  </a:extLst>
                </a:gridCol>
                <a:gridCol w="1043796">
                  <a:extLst>
                    <a:ext uri="{9D8B030D-6E8A-4147-A177-3AD203B41FA5}">
                      <a16:colId xmlns:a16="http://schemas.microsoft.com/office/drawing/2014/main" val="1728102290"/>
                    </a:ext>
                  </a:extLst>
                </a:gridCol>
                <a:gridCol w="1155940">
                  <a:extLst>
                    <a:ext uri="{9D8B030D-6E8A-4147-A177-3AD203B41FA5}">
                      <a16:colId xmlns:a16="http://schemas.microsoft.com/office/drawing/2014/main" val="1856194410"/>
                    </a:ext>
                  </a:extLst>
                </a:gridCol>
                <a:gridCol w="1311215">
                  <a:extLst>
                    <a:ext uri="{9D8B030D-6E8A-4147-A177-3AD203B41FA5}">
                      <a16:colId xmlns:a16="http://schemas.microsoft.com/office/drawing/2014/main" val="3870208536"/>
                    </a:ext>
                  </a:extLst>
                </a:gridCol>
              </a:tblGrid>
              <a:tr h="370840">
                <a:tc>
                  <a:txBody>
                    <a:bodyPr/>
                    <a:lstStyle/>
                    <a:p>
                      <a:r>
                        <a:rPr lang="en-US" sz="1800" b="1" dirty="0">
                          <a:latin typeface="Arial" panose="020B0604020202020204" pitchFamily="34" charset="0"/>
                          <a:cs typeface="Arial" panose="020B0604020202020204" pitchFamily="34" charset="0"/>
                        </a:rPr>
                        <a:t>Class</a:t>
                      </a:r>
                    </a:p>
                  </a:txBody>
                  <a:tcPr/>
                </a:tc>
                <a:tc>
                  <a:txBody>
                    <a:bodyPr/>
                    <a:lstStyle/>
                    <a:p>
                      <a:r>
                        <a:rPr lang="en-US" sz="1800" b="1" dirty="0">
                          <a:latin typeface="Arial" panose="020B0604020202020204" pitchFamily="34" charset="0"/>
                          <a:cs typeface="Arial" panose="020B0604020202020204" pitchFamily="34" charset="0"/>
                        </a:rPr>
                        <a:t>Precision</a:t>
                      </a:r>
                    </a:p>
                  </a:txBody>
                  <a:tcPr/>
                </a:tc>
                <a:tc>
                  <a:txBody>
                    <a:bodyPr/>
                    <a:lstStyle/>
                    <a:p>
                      <a:r>
                        <a:rPr lang="en-US" sz="1800" b="1" dirty="0">
                          <a:latin typeface="Arial" panose="020B0604020202020204" pitchFamily="34" charset="0"/>
                          <a:cs typeface="Arial" panose="020B0604020202020204" pitchFamily="34" charset="0"/>
                        </a:rPr>
                        <a:t>Recall</a:t>
                      </a:r>
                    </a:p>
                  </a:txBody>
                  <a:tcPr/>
                </a:tc>
                <a:tc>
                  <a:txBody>
                    <a:bodyPr/>
                    <a:lstStyle/>
                    <a:p>
                      <a:r>
                        <a:rPr lang="en-US" sz="1800" b="1" dirty="0">
                          <a:latin typeface="Arial" panose="020B0604020202020204" pitchFamily="34" charset="0"/>
                          <a:cs typeface="Arial" panose="020B0604020202020204" pitchFamily="34" charset="0"/>
                        </a:rPr>
                        <a:t>F1 score</a:t>
                      </a:r>
                    </a:p>
                  </a:txBody>
                  <a:tcPr/>
                </a:tc>
                <a:tc>
                  <a:txBody>
                    <a:bodyPr/>
                    <a:lstStyle/>
                    <a:p>
                      <a:r>
                        <a:rPr lang="en-US" sz="1800" b="1" dirty="0">
                          <a:latin typeface="Arial" panose="020B0604020202020204" pitchFamily="34" charset="0"/>
                          <a:cs typeface="Arial" panose="020B0604020202020204" pitchFamily="34" charset="0"/>
                        </a:rPr>
                        <a:t>Support</a:t>
                      </a:r>
                    </a:p>
                  </a:txBody>
                  <a:tcPr/>
                </a:tc>
                <a:extLst>
                  <a:ext uri="{0D108BD9-81ED-4DB2-BD59-A6C34878D82A}">
                    <a16:rowId xmlns:a16="http://schemas.microsoft.com/office/drawing/2014/main" val="3799980885"/>
                  </a:ext>
                </a:extLst>
              </a:tr>
              <a:tr h="370840">
                <a:tc>
                  <a:txBody>
                    <a:bodyPr/>
                    <a:lstStyle/>
                    <a:p>
                      <a:r>
                        <a:rPr lang="en-US" sz="1800" dirty="0">
                          <a:latin typeface="Arial" panose="020B0604020202020204" pitchFamily="34" charset="0"/>
                          <a:cs typeface="Arial" panose="020B0604020202020204" pitchFamily="34" charset="0"/>
                        </a:rPr>
                        <a:t>0 (Non default)</a:t>
                      </a:r>
                    </a:p>
                    <a:p>
                      <a:r>
                        <a:rPr lang="en-US" sz="1800" dirty="0">
                          <a:latin typeface="Arial" panose="020B0604020202020204" pitchFamily="34" charset="0"/>
                          <a:cs typeface="Arial" panose="020B0604020202020204" pitchFamily="34" charset="0"/>
                        </a:rPr>
                        <a:t>1 (Default)</a:t>
                      </a:r>
                    </a:p>
                  </a:txBody>
                  <a:tcPr/>
                </a:tc>
                <a:tc>
                  <a:txBody>
                    <a:bodyPr/>
                    <a:lstStyle/>
                    <a:p>
                      <a:pPr algn="ctr"/>
                      <a:r>
                        <a:rPr lang="en-US" sz="1800" dirty="0">
                          <a:latin typeface="Arial" panose="020B0604020202020204" pitchFamily="34" charset="0"/>
                          <a:cs typeface="Arial" panose="020B0604020202020204" pitchFamily="34" charset="0"/>
                        </a:rPr>
                        <a:t>0.90</a:t>
                      </a:r>
                    </a:p>
                    <a:p>
                      <a:pPr algn="ctr"/>
                      <a:r>
                        <a:rPr lang="en-US" sz="1800" dirty="0">
                          <a:latin typeface="Arial" panose="020B0604020202020204" pitchFamily="34" charset="0"/>
                          <a:cs typeface="Arial" panose="020B0604020202020204" pitchFamily="34" charset="0"/>
                        </a:rPr>
                        <a:t>0.05</a:t>
                      </a:r>
                    </a:p>
                  </a:txBody>
                  <a:tcPr/>
                </a:tc>
                <a:tc>
                  <a:txBody>
                    <a:bodyPr/>
                    <a:lstStyle/>
                    <a:p>
                      <a:pPr algn="ctr"/>
                      <a:r>
                        <a:rPr lang="en-US" sz="1800" dirty="0">
                          <a:latin typeface="Arial" panose="020B0604020202020204" pitchFamily="34" charset="0"/>
                          <a:cs typeface="Arial" panose="020B0604020202020204" pitchFamily="34" charset="0"/>
                        </a:rPr>
                        <a:t>0.93</a:t>
                      </a:r>
                    </a:p>
                    <a:p>
                      <a:pPr algn="ctr"/>
                      <a:r>
                        <a:rPr lang="en-US" sz="1800" dirty="0">
                          <a:latin typeface="Arial" panose="020B0604020202020204" pitchFamily="34" charset="0"/>
                          <a:cs typeface="Arial" panose="020B0604020202020204" pitchFamily="34" charset="0"/>
                        </a:rPr>
                        <a:t>0.03</a:t>
                      </a:r>
                    </a:p>
                  </a:txBody>
                  <a:tcPr/>
                </a:tc>
                <a:tc>
                  <a:txBody>
                    <a:bodyPr/>
                    <a:lstStyle/>
                    <a:p>
                      <a:pPr algn="ctr"/>
                      <a:r>
                        <a:rPr lang="en-US" sz="1800" dirty="0">
                          <a:latin typeface="Arial" panose="020B0604020202020204" pitchFamily="34" charset="0"/>
                          <a:cs typeface="Arial" panose="020B0604020202020204" pitchFamily="34" charset="0"/>
                        </a:rPr>
                        <a:t>0.92</a:t>
                      </a:r>
                    </a:p>
                    <a:p>
                      <a:pPr algn="ctr"/>
                      <a:r>
                        <a:rPr lang="en-US" sz="1800" dirty="0">
                          <a:latin typeface="Arial" panose="020B0604020202020204" pitchFamily="34" charset="0"/>
                          <a:cs typeface="Arial" panose="020B0604020202020204" pitchFamily="34" charset="0"/>
                        </a:rPr>
                        <a:t>0.04</a:t>
                      </a:r>
                    </a:p>
                  </a:txBody>
                  <a:tcPr/>
                </a:tc>
                <a:tc>
                  <a:txBody>
                    <a:bodyPr/>
                    <a:lstStyle/>
                    <a:p>
                      <a:pPr algn="ctr"/>
                      <a:r>
                        <a:rPr lang="en-US" sz="1800" dirty="0">
                          <a:latin typeface="Arial" panose="020B0604020202020204" pitchFamily="34" charset="0"/>
                          <a:cs typeface="Arial" panose="020B0604020202020204" pitchFamily="34" charset="0"/>
                        </a:rPr>
                        <a:t>902</a:t>
                      </a:r>
                    </a:p>
                    <a:p>
                      <a:pPr algn="ctr"/>
                      <a:r>
                        <a:rPr lang="en-US" sz="1800" dirty="0">
                          <a:latin typeface="Arial" panose="020B0604020202020204" pitchFamily="34" charset="0"/>
                          <a:cs typeface="Arial" panose="020B0604020202020204" pitchFamily="34" charset="0"/>
                        </a:rPr>
                        <a:t>98</a:t>
                      </a:r>
                    </a:p>
                  </a:txBody>
                  <a:tcPr/>
                </a:tc>
                <a:extLst>
                  <a:ext uri="{0D108BD9-81ED-4DB2-BD59-A6C34878D82A}">
                    <a16:rowId xmlns:a16="http://schemas.microsoft.com/office/drawing/2014/main" val="1369270335"/>
                  </a:ext>
                </a:extLst>
              </a:tr>
              <a:tr h="370840">
                <a:tc>
                  <a:txBody>
                    <a:bodyPr/>
                    <a:lstStyle/>
                    <a:p>
                      <a:r>
                        <a:rPr lang="en-US" sz="1800" b="1" dirty="0">
                          <a:latin typeface="Arial" panose="020B0604020202020204" pitchFamily="34" charset="0"/>
                          <a:cs typeface="Arial" panose="020B0604020202020204" pitchFamily="34" charset="0"/>
                        </a:rPr>
                        <a:t>Accuracy</a:t>
                      </a:r>
                    </a:p>
                    <a:p>
                      <a:r>
                        <a:rPr lang="en-US" sz="1800" b="1" dirty="0">
                          <a:latin typeface="Arial" panose="020B0604020202020204" pitchFamily="34" charset="0"/>
                          <a:cs typeface="Arial" panose="020B0604020202020204" pitchFamily="34" charset="0"/>
                        </a:rPr>
                        <a:t>Weighted Avg</a:t>
                      </a:r>
                    </a:p>
                  </a:txBody>
                  <a:tcPr/>
                </a:tc>
                <a:tc>
                  <a:txBody>
                    <a:bodyP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0.82</a:t>
                      </a:r>
                    </a:p>
                  </a:txBody>
                  <a:tcPr/>
                </a:tc>
                <a:tc>
                  <a:txBody>
                    <a:bodyP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0.85</a:t>
                      </a:r>
                    </a:p>
                  </a:txBody>
                  <a:tcPr/>
                </a:tc>
                <a:tc>
                  <a:txBody>
                    <a:bodyPr/>
                    <a:lstStyle/>
                    <a:p>
                      <a:pPr algn="ctr"/>
                      <a:r>
                        <a:rPr lang="en-US" sz="1800" dirty="0">
                          <a:latin typeface="Arial" panose="020B0604020202020204" pitchFamily="34" charset="0"/>
                          <a:cs typeface="Arial" panose="020B0604020202020204" pitchFamily="34" charset="0"/>
                        </a:rPr>
                        <a:t>0.85</a:t>
                      </a:r>
                    </a:p>
                    <a:p>
                      <a:pPr algn="ctr"/>
                      <a:r>
                        <a:rPr lang="en-US" sz="1800" dirty="0">
                          <a:latin typeface="Arial" panose="020B0604020202020204" pitchFamily="34" charset="0"/>
                          <a:cs typeface="Arial" panose="020B0604020202020204" pitchFamily="34" charset="0"/>
                        </a:rPr>
                        <a:t>0.83</a:t>
                      </a:r>
                    </a:p>
                  </a:txBody>
                  <a:tcPr/>
                </a:tc>
                <a:tc>
                  <a:txBody>
                    <a:bodyPr/>
                    <a:lstStyle/>
                    <a:p>
                      <a:pPr algn="ctr"/>
                      <a:r>
                        <a:rPr lang="en-US" sz="1800" dirty="0">
                          <a:latin typeface="Arial" panose="020B0604020202020204" pitchFamily="34" charset="0"/>
                          <a:cs typeface="Arial" panose="020B0604020202020204" pitchFamily="34" charset="0"/>
                        </a:rPr>
                        <a:t>1000</a:t>
                      </a:r>
                    </a:p>
                    <a:p>
                      <a:pPr algn="ctr"/>
                      <a:r>
                        <a:rPr lang="en-US" sz="1800" dirty="0">
                          <a:latin typeface="Arial" panose="020B0604020202020204" pitchFamily="34" charset="0"/>
                          <a:cs typeface="Arial" panose="020B0604020202020204" pitchFamily="34" charset="0"/>
                        </a:rPr>
                        <a:t>1000</a:t>
                      </a:r>
                    </a:p>
                  </a:txBody>
                  <a:tcPr/>
                </a:tc>
                <a:extLst>
                  <a:ext uri="{0D108BD9-81ED-4DB2-BD59-A6C34878D82A}">
                    <a16:rowId xmlns:a16="http://schemas.microsoft.com/office/drawing/2014/main" val="2869207582"/>
                  </a:ext>
                </a:extLst>
              </a:tr>
            </a:tbl>
          </a:graphicData>
        </a:graphic>
      </p:graphicFrame>
      <p:graphicFrame>
        <p:nvGraphicFramePr>
          <p:cNvPr id="4" name="Table 3">
            <a:extLst>
              <a:ext uri="{FF2B5EF4-FFF2-40B4-BE49-F238E27FC236}">
                <a16:creationId xmlns:a16="http://schemas.microsoft.com/office/drawing/2014/main" id="{EBF16179-FF63-7C59-9894-6ED546400823}"/>
              </a:ext>
            </a:extLst>
          </p:cNvPr>
          <p:cNvGraphicFramePr>
            <a:graphicFrameLocks noGrp="1"/>
          </p:cNvGraphicFramePr>
          <p:nvPr>
            <p:extLst>
              <p:ext uri="{D42A27DB-BD31-4B8C-83A1-F6EECF244321}">
                <p14:modId xmlns:p14="http://schemas.microsoft.com/office/powerpoint/2010/main" val="3339826577"/>
              </p:ext>
            </p:extLst>
          </p:nvPr>
        </p:nvGraphicFramePr>
        <p:xfrm>
          <a:off x="2101542" y="4516120"/>
          <a:ext cx="8128000" cy="1483360"/>
        </p:xfrm>
        <a:graphic>
          <a:graphicData uri="http://schemas.openxmlformats.org/drawingml/2006/table">
            <a:tbl>
              <a:tblPr firstRow="1" bandRow="1"/>
              <a:tblGrid>
                <a:gridCol w="2032000">
                  <a:extLst>
                    <a:ext uri="{9D8B030D-6E8A-4147-A177-3AD203B41FA5}">
                      <a16:colId xmlns:a16="http://schemas.microsoft.com/office/drawing/2014/main" val="1777498568"/>
                    </a:ext>
                  </a:extLst>
                </a:gridCol>
                <a:gridCol w="2370775">
                  <a:extLst>
                    <a:ext uri="{9D8B030D-6E8A-4147-A177-3AD203B41FA5}">
                      <a16:colId xmlns:a16="http://schemas.microsoft.com/office/drawing/2014/main" val="467124662"/>
                    </a:ext>
                  </a:extLst>
                </a:gridCol>
                <a:gridCol w="1932317">
                  <a:extLst>
                    <a:ext uri="{9D8B030D-6E8A-4147-A177-3AD203B41FA5}">
                      <a16:colId xmlns:a16="http://schemas.microsoft.com/office/drawing/2014/main" val="2409352819"/>
                    </a:ext>
                  </a:extLst>
                </a:gridCol>
                <a:gridCol w="1792908">
                  <a:extLst>
                    <a:ext uri="{9D8B030D-6E8A-4147-A177-3AD203B41FA5}">
                      <a16:colId xmlns:a16="http://schemas.microsoft.com/office/drawing/2014/main" val="2787409715"/>
                    </a:ext>
                  </a:extLst>
                </a:gridCol>
              </a:tblGrid>
              <a:tr h="370840">
                <a:tc>
                  <a:txBody>
                    <a:bodyPr/>
                    <a:lstStyle/>
                    <a:p>
                      <a:r>
                        <a:rPr lang="en-US" sz="1800" b="1" dirty="0">
                          <a:latin typeface="Arial" panose="020B0604020202020204" pitchFamily="34" charset="0"/>
                          <a:cs typeface="Arial" panose="020B0604020202020204" pitchFamily="34" charset="0"/>
                        </a:rPr>
                        <a:t>Concept</a:t>
                      </a:r>
                    </a:p>
                  </a:txBody>
                  <a:tcPr/>
                </a:tc>
                <a:tc>
                  <a:txBody>
                    <a:bodyPr/>
                    <a:lstStyle/>
                    <a:p>
                      <a:pPr algn="ctr"/>
                      <a:r>
                        <a:rPr lang="en-US" sz="1800" b="1" dirty="0">
                          <a:latin typeface="Arial" panose="020B0604020202020204" pitchFamily="34" charset="0"/>
                          <a:cs typeface="Arial" panose="020B0604020202020204" pitchFamily="34" charset="0"/>
                        </a:rPr>
                        <a:t>Interest Rate Shock</a:t>
                      </a:r>
                    </a:p>
                  </a:txBody>
                  <a:tcPr/>
                </a:tc>
                <a:tc>
                  <a:txBody>
                    <a:bodyPr/>
                    <a:lstStyle/>
                    <a:p>
                      <a:pPr algn="ctr"/>
                      <a:r>
                        <a:rPr lang="en-US" sz="1800" b="1" dirty="0">
                          <a:latin typeface="Arial" panose="020B0604020202020204" pitchFamily="34" charset="0"/>
                          <a:cs typeface="Arial" panose="020B0604020202020204" pitchFamily="34" charset="0"/>
                        </a:rPr>
                        <a:t>Liquidity Crisis</a:t>
                      </a:r>
                    </a:p>
                  </a:txBody>
                  <a:tcPr/>
                </a:tc>
                <a:tc>
                  <a:txBody>
                    <a:bodyPr/>
                    <a:lstStyle/>
                    <a:p>
                      <a:pPr algn="ctr"/>
                      <a:r>
                        <a:rPr lang="en-US" sz="1800" b="1" dirty="0">
                          <a:latin typeface="Arial" panose="020B0604020202020204" pitchFamily="34" charset="0"/>
                          <a:cs typeface="Arial" panose="020B0604020202020204" pitchFamily="34" charset="0"/>
                        </a:rPr>
                        <a:t>Credit Crunch</a:t>
                      </a:r>
                    </a:p>
                  </a:txBody>
                  <a:tcPr/>
                </a:tc>
                <a:extLst>
                  <a:ext uri="{0D108BD9-81ED-4DB2-BD59-A6C34878D82A}">
                    <a16:rowId xmlns:a16="http://schemas.microsoft.com/office/drawing/2014/main" val="2964057244"/>
                  </a:ext>
                </a:extLst>
              </a:tr>
              <a:tr h="370840">
                <a:tc>
                  <a:txBody>
                    <a:bodyPr/>
                    <a:lstStyle/>
                    <a:p>
                      <a:r>
                        <a:rPr lang="en-US" sz="1800" dirty="0">
                          <a:latin typeface="Arial" panose="020B0604020202020204" pitchFamily="34" charset="0"/>
                          <a:cs typeface="Arial" panose="020B0604020202020204" pitchFamily="34" charset="0"/>
                        </a:rPr>
                        <a:t>Liquidity</a:t>
                      </a:r>
                    </a:p>
                  </a:txBody>
                  <a:tcPr/>
                </a:tc>
                <a:tc>
                  <a:txBody>
                    <a:bodyPr/>
                    <a:lstStyle/>
                    <a:p>
                      <a:pPr algn="ctr"/>
                      <a:r>
                        <a:rPr lang="en-US" sz="1800" dirty="0">
                          <a:latin typeface="Arial" panose="020B0604020202020204" pitchFamily="34" charset="0"/>
                          <a:cs typeface="Arial" panose="020B0604020202020204" pitchFamily="34" charset="0"/>
                        </a:rPr>
                        <a:t>0.012</a:t>
                      </a:r>
                    </a:p>
                  </a:txBody>
                  <a:tcPr/>
                </a:tc>
                <a:tc>
                  <a:txBody>
                    <a:bodyPr/>
                    <a:lstStyle/>
                    <a:p>
                      <a:pPr algn="ctr"/>
                      <a:r>
                        <a:rPr lang="en-US" sz="1800" dirty="0">
                          <a:latin typeface="Arial" panose="020B0604020202020204" pitchFamily="34" charset="0"/>
                          <a:cs typeface="Arial" panose="020B0604020202020204" pitchFamily="34" charset="0"/>
                        </a:rPr>
                        <a:t>0.026</a:t>
                      </a:r>
                    </a:p>
                  </a:txBody>
                  <a:tcPr/>
                </a:tc>
                <a:tc>
                  <a:txBody>
                    <a:bodyPr/>
                    <a:lstStyle/>
                    <a:p>
                      <a:pPr algn="ctr"/>
                      <a:r>
                        <a:rPr lang="en-US" sz="1800" dirty="0">
                          <a:latin typeface="Arial" panose="020B0604020202020204" pitchFamily="34" charset="0"/>
                          <a:cs typeface="Arial" panose="020B0604020202020204" pitchFamily="34" charset="0"/>
                        </a:rPr>
                        <a:t>0.011</a:t>
                      </a:r>
                    </a:p>
                  </a:txBody>
                  <a:tcPr/>
                </a:tc>
                <a:extLst>
                  <a:ext uri="{0D108BD9-81ED-4DB2-BD59-A6C34878D82A}">
                    <a16:rowId xmlns:a16="http://schemas.microsoft.com/office/drawing/2014/main" val="713081996"/>
                  </a:ext>
                </a:extLst>
              </a:tr>
              <a:tr h="370840">
                <a:tc>
                  <a:txBody>
                    <a:bodyPr/>
                    <a:lstStyle/>
                    <a:p>
                      <a:r>
                        <a:rPr lang="en-US" sz="1800" dirty="0">
                          <a:latin typeface="Arial" panose="020B0604020202020204" pitchFamily="34" charset="0"/>
                          <a:cs typeface="Arial" panose="020B0604020202020204" pitchFamily="34" charset="0"/>
                        </a:rPr>
                        <a:t>Credit Exposure</a:t>
                      </a:r>
                    </a:p>
                  </a:txBody>
                  <a:tcPr/>
                </a:tc>
                <a:tc>
                  <a:txBody>
                    <a:bodyPr/>
                    <a:lstStyle/>
                    <a:p>
                      <a:pPr algn="ctr"/>
                      <a:r>
                        <a:rPr lang="en-US" sz="1800" dirty="0">
                          <a:latin typeface="Arial" panose="020B0604020202020204" pitchFamily="34" charset="0"/>
                          <a:cs typeface="Arial" panose="020B0604020202020204" pitchFamily="34" charset="0"/>
                        </a:rPr>
                        <a:t>0.018</a:t>
                      </a:r>
                    </a:p>
                  </a:txBody>
                  <a:tcPr/>
                </a:tc>
                <a:tc>
                  <a:txBody>
                    <a:bodyPr/>
                    <a:lstStyle/>
                    <a:p>
                      <a:pPr algn="ctr"/>
                      <a:r>
                        <a:rPr lang="en-US" sz="1800" dirty="0">
                          <a:latin typeface="Arial" panose="020B0604020202020204" pitchFamily="34" charset="0"/>
                          <a:cs typeface="Arial" panose="020B0604020202020204" pitchFamily="34" charset="0"/>
                        </a:rPr>
                        <a:t>0.013</a:t>
                      </a:r>
                    </a:p>
                  </a:txBody>
                  <a:tcPr/>
                </a:tc>
                <a:tc>
                  <a:txBody>
                    <a:bodyPr/>
                    <a:lstStyle/>
                    <a:p>
                      <a:pPr algn="ctr"/>
                      <a:r>
                        <a:rPr lang="en-US" sz="1800" dirty="0">
                          <a:latin typeface="Arial" panose="020B0604020202020204" pitchFamily="34" charset="0"/>
                          <a:cs typeface="Arial" panose="020B0604020202020204" pitchFamily="34" charset="0"/>
                        </a:rPr>
                        <a:t>0.020</a:t>
                      </a:r>
                    </a:p>
                  </a:txBody>
                  <a:tcPr/>
                </a:tc>
                <a:extLst>
                  <a:ext uri="{0D108BD9-81ED-4DB2-BD59-A6C34878D82A}">
                    <a16:rowId xmlns:a16="http://schemas.microsoft.com/office/drawing/2014/main" val="4266194999"/>
                  </a:ext>
                </a:extLst>
              </a:tr>
              <a:tr h="370840">
                <a:tc>
                  <a:txBody>
                    <a:bodyPr/>
                    <a:lstStyle/>
                    <a:p>
                      <a:r>
                        <a:rPr lang="en-US" sz="1800" dirty="0">
                          <a:latin typeface="Arial" panose="020B0604020202020204" pitchFamily="34" charset="0"/>
                          <a:cs typeface="Arial" panose="020B0604020202020204" pitchFamily="34" charset="0"/>
                        </a:rPr>
                        <a:t>Credit Score</a:t>
                      </a:r>
                    </a:p>
                  </a:txBody>
                  <a:tcPr/>
                </a:tc>
                <a:tc>
                  <a:txBody>
                    <a:bodyPr/>
                    <a:lstStyle/>
                    <a:p>
                      <a:pPr algn="ctr"/>
                      <a:r>
                        <a:rPr lang="en-US" sz="1800" dirty="0">
                          <a:latin typeface="Arial" panose="020B0604020202020204" pitchFamily="34" charset="0"/>
                          <a:cs typeface="Arial" panose="020B0604020202020204" pitchFamily="34" charset="0"/>
                        </a:rPr>
                        <a:t>0.022</a:t>
                      </a:r>
                    </a:p>
                  </a:txBody>
                  <a:tcPr/>
                </a:tc>
                <a:tc>
                  <a:txBody>
                    <a:bodyPr/>
                    <a:lstStyle/>
                    <a:p>
                      <a:pPr algn="ctr"/>
                      <a:r>
                        <a:rPr lang="en-US" sz="1800" dirty="0">
                          <a:latin typeface="Arial" panose="020B0604020202020204" pitchFamily="34" charset="0"/>
                          <a:cs typeface="Arial" panose="020B0604020202020204" pitchFamily="34" charset="0"/>
                        </a:rPr>
                        <a:t>0.017</a:t>
                      </a:r>
                    </a:p>
                  </a:txBody>
                  <a:tcPr/>
                </a:tc>
                <a:tc>
                  <a:txBody>
                    <a:bodyPr/>
                    <a:lstStyle/>
                    <a:p>
                      <a:pPr algn="ctr"/>
                      <a:r>
                        <a:rPr lang="en-US" sz="1800" dirty="0">
                          <a:latin typeface="Arial" panose="020B0604020202020204" pitchFamily="34" charset="0"/>
                          <a:cs typeface="Arial" panose="020B0604020202020204" pitchFamily="34" charset="0"/>
                        </a:rPr>
                        <a:t>0.019</a:t>
                      </a:r>
                    </a:p>
                  </a:txBody>
                  <a:tcPr/>
                </a:tc>
                <a:extLst>
                  <a:ext uri="{0D108BD9-81ED-4DB2-BD59-A6C34878D82A}">
                    <a16:rowId xmlns:a16="http://schemas.microsoft.com/office/drawing/2014/main" val="181357430"/>
                  </a:ext>
                </a:extLst>
              </a:tr>
            </a:tbl>
          </a:graphicData>
        </a:graphic>
      </p:graphicFrame>
    </p:spTree>
    <p:extLst>
      <p:ext uri="{BB962C8B-B14F-4D97-AF65-F5344CB8AC3E}">
        <p14:creationId xmlns:p14="http://schemas.microsoft.com/office/powerpoint/2010/main" val="527683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544854D-DC01-2B38-675A-07302FE8B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5665" y="1133502"/>
            <a:ext cx="6068636" cy="4522755"/>
          </a:xfrm>
          <a:prstGeom prst="rect">
            <a:avLst/>
          </a:prstGeom>
        </p:spPr>
      </p:pic>
      <p:grpSp>
        <p:nvGrpSpPr>
          <p:cNvPr id="9" name="Group 8">
            <a:extLst>
              <a:ext uri="{FF2B5EF4-FFF2-40B4-BE49-F238E27FC236}">
                <a16:creationId xmlns:a16="http://schemas.microsoft.com/office/drawing/2014/main" id="{2EA66BCB-7FF3-4F46-1EDD-E56F3F614A7C}"/>
              </a:ext>
            </a:extLst>
          </p:cNvPr>
          <p:cNvGrpSpPr/>
          <p:nvPr/>
        </p:nvGrpSpPr>
        <p:grpSpPr>
          <a:xfrm>
            <a:off x="205390" y="0"/>
            <a:ext cx="11842811" cy="920694"/>
            <a:chOff x="55823" y="-142244"/>
            <a:chExt cx="12136177" cy="1435572"/>
          </a:xfrm>
        </p:grpSpPr>
        <p:sp>
          <p:nvSpPr>
            <p:cNvPr id="10" name="TextBox 9">
              <a:extLst>
                <a:ext uri="{FF2B5EF4-FFF2-40B4-BE49-F238E27FC236}">
                  <a16:creationId xmlns:a16="http://schemas.microsoft.com/office/drawing/2014/main" id="{A398116C-61FD-A5F3-8549-39F68C228463}"/>
                </a:ext>
              </a:extLst>
            </p:cNvPr>
            <p:cNvSpPr txBox="1"/>
            <p:nvPr/>
          </p:nvSpPr>
          <p:spPr>
            <a:xfrm>
              <a:off x="1371599" y="189572"/>
              <a:ext cx="9567747" cy="1103756"/>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p:txBody>
        </p:sp>
        <p:pic>
          <p:nvPicPr>
            <p:cNvPr id="11" name="Picture 2">
              <a:extLst>
                <a:ext uri="{FF2B5EF4-FFF2-40B4-BE49-F238E27FC236}">
                  <a16:creationId xmlns:a16="http://schemas.microsoft.com/office/drawing/2014/main" id="{B8D8404F-53C7-7193-AA0D-642B7ED54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EEAFE723-1D21-02B4-4F40-302A7D7745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B4FA4F84-0CB5-AA44-EB22-DD789AFEDD5A}"/>
              </a:ext>
            </a:extLst>
          </p:cNvPr>
          <p:cNvSpPr txBox="1"/>
          <p:nvPr/>
        </p:nvSpPr>
        <p:spPr>
          <a:xfrm>
            <a:off x="147699" y="1345309"/>
            <a:ext cx="5948301" cy="5693866"/>
          </a:xfrm>
          <a:prstGeom prst="rect">
            <a:avLst/>
          </a:prstGeom>
          <a:noFill/>
        </p:spPr>
        <p:txBody>
          <a:bodyPr wrap="square" rtlCol="0">
            <a:spAutoFit/>
          </a:bodyPr>
          <a:lstStyle/>
          <a:p>
            <a:r>
              <a:rPr lang="en-US" sz="1400" b="1"/>
              <a:t>🔹 Top-Left: Random Forest Feature Importance</a:t>
            </a:r>
          </a:p>
          <a:p>
            <a:r>
              <a:rPr lang="en-US" sz="1400" b="1"/>
              <a:t>AMT_INCOME_TOTAL</a:t>
            </a:r>
            <a:r>
              <a:rPr lang="en-US" sz="1400"/>
              <a:t> is the most influential feature for risk prediction.</a:t>
            </a:r>
          </a:p>
          <a:p>
            <a:r>
              <a:rPr lang="en-US" sz="1400"/>
              <a:t>Other key contributors: </a:t>
            </a:r>
            <a:r>
              <a:rPr lang="en-US" sz="1400" b="1"/>
              <a:t>AMT_CREDIT</a:t>
            </a:r>
            <a:r>
              <a:rPr lang="en-US" sz="1400"/>
              <a:t>, </a:t>
            </a:r>
            <a:r>
              <a:rPr lang="en-US" sz="1400" b="1"/>
              <a:t>AMT_ANNUITY</a:t>
            </a:r>
            <a:r>
              <a:rPr lang="en-US" sz="1400"/>
              <a:t>, and </a:t>
            </a:r>
            <a:r>
              <a:rPr lang="en-US" sz="1400" b="1"/>
              <a:t>EXT_SOURCE_1–3</a:t>
            </a:r>
            <a:r>
              <a:rPr lang="en-US" sz="1400"/>
              <a:t>.</a:t>
            </a:r>
          </a:p>
          <a:p>
            <a:r>
              <a:rPr lang="en-US" sz="1400"/>
              <a:t>Indicates that </a:t>
            </a:r>
            <a:r>
              <a:rPr lang="en-US" sz="1400" b="1"/>
              <a:t>income and external credit sources</a:t>
            </a:r>
            <a:r>
              <a:rPr lang="en-US" sz="1400"/>
              <a:t> heavily drive model decisions.</a:t>
            </a:r>
          </a:p>
          <a:p>
            <a:endParaRPr lang="en-US" sz="1400"/>
          </a:p>
          <a:p>
            <a:r>
              <a:rPr lang="en-US" sz="1400" b="1"/>
              <a:t>🔹 Top-Right: Risk Probability Distribution</a:t>
            </a:r>
          </a:p>
          <a:p>
            <a:r>
              <a:rPr lang="en-US" sz="1400"/>
              <a:t>Green = </a:t>
            </a:r>
            <a:r>
              <a:rPr lang="en-US" sz="1400" b="1"/>
              <a:t>Actual Low Risk</a:t>
            </a:r>
            <a:r>
              <a:rPr lang="en-US" sz="1400"/>
              <a:t>, Red = </a:t>
            </a:r>
            <a:r>
              <a:rPr lang="en-US" sz="1400" b="1"/>
              <a:t>Actual High Risk</a:t>
            </a:r>
            <a:r>
              <a:rPr lang="en-US" sz="1400"/>
              <a:t>.</a:t>
            </a:r>
          </a:p>
          <a:p>
            <a:r>
              <a:rPr lang="en-US" sz="1400"/>
              <a:t>Most predictions lie below </a:t>
            </a:r>
            <a:r>
              <a:rPr lang="en-US" sz="1400" b="1"/>
              <a:t>0.4 probability</a:t>
            </a:r>
            <a:r>
              <a:rPr lang="en-US" sz="1400"/>
              <a:t>, showing a </a:t>
            </a:r>
            <a:r>
              <a:rPr lang="en-US" sz="1400" b="1"/>
              <a:t>conservative model bias</a:t>
            </a:r>
            <a:r>
              <a:rPr lang="en-US" sz="1400"/>
              <a:t>.</a:t>
            </a:r>
          </a:p>
          <a:p>
            <a:r>
              <a:rPr lang="en-US" sz="1400"/>
              <a:t>The </a:t>
            </a:r>
            <a:r>
              <a:rPr lang="en-US" sz="1400" b="1"/>
              <a:t>decision threshold (≈0.5)</a:t>
            </a:r>
            <a:r>
              <a:rPr lang="en-US" sz="1400"/>
              <a:t> effectively separates low and high-risk borrowers.</a:t>
            </a:r>
          </a:p>
          <a:p>
            <a:br>
              <a:rPr lang="en-US" sz="1400"/>
            </a:br>
            <a:r>
              <a:rPr lang="en-US" sz="1400" b="1"/>
              <a:t>🔹 Bottom-Left: Stress Test Risk Impact</a:t>
            </a:r>
          </a:p>
          <a:p>
            <a:r>
              <a:rPr lang="en-US" sz="1400"/>
              <a:t>Stress scenarios tested: </a:t>
            </a:r>
            <a:r>
              <a:rPr lang="en-US" sz="1400" b="1"/>
              <a:t>Interest Rate Shock</a:t>
            </a:r>
            <a:r>
              <a:rPr lang="en-US" sz="1400"/>
              <a:t>, </a:t>
            </a:r>
            <a:r>
              <a:rPr lang="en-US" sz="1400" b="1"/>
              <a:t>Liquidity Crisis</a:t>
            </a:r>
            <a:r>
              <a:rPr lang="en-US" sz="1400"/>
              <a:t>, </a:t>
            </a:r>
            <a:r>
              <a:rPr lang="en-US" sz="1400" b="1"/>
              <a:t>Credit Crunch</a:t>
            </a:r>
            <a:r>
              <a:rPr lang="en-US" sz="1400"/>
              <a:t>.</a:t>
            </a:r>
          </a:p>
          <a:p>
            <a:r>
              <a:rPr lang="en-US" sz="1400" b="1"/>
              <a:t>Liquidity Crisis</a:t>
            </a:r>
            <a:r>
              <a:rPr lang="en-US" sz="1400"/>
              <a:t> and </a:t>
            </a:r>
            <a:r>
              <a:rPr lang="en-US" sz="1400" b="1"/>
              <a:t>Credit Crunch</a:t>
            </a:r>
            <a:r>
              <a:rPr lang="en-US" sz="1400"/>
              <a:t> cause the </a:t>
            </a:r>
            <a:r>
              <a:rPr lang="en-US" sz="1400" b="1"/>
              <a:t>highest risk increase</a:t>
            </a:r>
            <a:r>
              <a:rPr lang="en-US" sz="1400"/>
              <a:t> (≈0.6).</a:t>
            </a:r>
          </a:p>
          <a:p>
            <a:r>
              <a:rPr lang="en-US" sz="1400"/>
              <a:t>Average risk rise is minimal, showing </a:t>
            </a:r>
            <a:r>
              <a:rPr lang="en-US" sz="1400" b="1"/>
              <a:t>resilience under mild stress</a:t>
            </a:r>
            <a:r>
              <a:rPr lang="en-US" sz="1400"/>
              <a:t>, but </a:t>
            </a:r>
            <a:r>
              <a:rPr lang="en-US" sz="1400" b="1"/>
              <a:t>sharp spikes</a:t>
            </a:r>
            <a:r>
              <a:rPr lang="en-US" sz="1400"/>
              <a:t> under severe shocks.</a:t>
            </a:r>
          </a:p>
          <a:p>
            <a:br>
              <a:rPr lang="en-US" sz="1400"/>
            </a:br>
            <a:r>
              <a:rPr lang="en-US" sz="1400" b="1"/>
              <a:t>🔹 Bottom-Right: TCAV Concept Importance Heatmap</a:t>
            </a:r>
          </a:p>
          <a:p>
            <a:r>
              <a:rPr lang="en-US" sz="1400"/>
              <a:t>Measures causal importance of </a:t>
            </a:r>
            <a:r>
              <a:rPr lang="en-US" sz="1400" b="1"/>
              <a:t>financial concepts</a:t>
            </a:r>
            <a:r>
              <a:rPr lang="en-US" sz="1400"/>
              <a:t> across stress tests.</a:t>
            </a:r>
          </a:p>
          <a:p>
            <a:r>
              <a:rPr lang="en-US" sz="1400" b="1"/>
              <a:t>Liquidity</a:t>
            </a:r>
            <a:r>
              <a:rPr lang="en-US" sz="1400"/>
              <a:t> concept most sensitive during </a:t>
            </a:r>
            <a:r>
              <a:rPr lang="en-US" sz="1400" b="1"/>
              <a:t>Interest Rate Shock</a:t>
            </a:r>
            <a:r>
              <a:rPr lang="en-US" sz="1400"/>
              <a:t> (TCAV ≈ 0.026).</a:t>
            </a:r>
          </a:p>
          <a:p>
            <a:r>
              <a:rPr lang="en-US" sz="1400" b="1"/>
              <a:t>Credit Exposure</a:t>
            </a:r>
            <a:r>
              <a:rPr lang="en-US" sz="1400"/>
              <a:t> and </a:t>
            </a:r>
            <a:r>
              <a:rPr lang="en-US" sz="1400" b="1"/>
              <a:t>Credit Score</a:t>
            </a:r>
            <a:r>
              <a:rPr lang="en-US" sz="1400"/>
              <a:t> gain influence in </a:t>
            </a:r>
            <a:r>
              <a:rPr lang="en-US" sz="1400" b="1"/>
              <a:t>Liquidity Crisis</a:t>
            </a:r>
            <a:r>
              <a:rPr lang="en-US" sz="1400"/>
              <a:t> and </a:t>
            </a:r>
            <a:r>
              <a:rPr lang="en-US" sz="1400" b="1"/>
              <a:t>Credit Crunch</a:t>
            </a:r>
            <a:r>
              <a:rPr lang="en-US" sz="1400"/>
              <a:t> respectively.</a:t>
            </a:r>
          </a:p>
          <a:p>
            <a:r>
              <a:rPr lang="en-US" sz="1400"/>
              <a:t>Highlights that </a:t>
            </a:r>
            <a:r>
              <a:rPr lang="en-US" sz="1400" b="1"/>
              <a:t>concept-level importance shifts dynamically under stress</a:t>
            </a:r>
            <a:r>
              <a:rPr lang="en-US" sz="1400"/>
              <a:t> — useful for </a:t>
            </a:r>
            <a:r>
              <a:rPr lang="en-US" sz="1400" b="1"/>
              <a:t>causal interpretability</a:t>
            </a:r>
            <a:r>
              <a:rPr lang="en-US" sz="1400"/>
              <a:t>.</a:t>
            </a:r>
          </a:p>
          <a:p>
            <a:endParaRPr lang="en-US" sz="1400" dirty="0"/>
          </a:p>
        </p:txBody>
      </p:sp>
      <p:sp>
        <p:nvSpPr>
          <p:cNvPr id="15" name="TextBox 14">
            <a:extLst>
              <a:ext uri="{FF2B5EF4-FFF2-40B4-BE49-F238E27FC236}">
                <a16:creationId xmlns:a16="http://schemas.microsoft.com/office/drawing/2014/main" id="{AFC1A248-A14E-6C55-DF55-EF91759BB81D}"/>
              </a:ext>
            </a:extLst>
          </p:cNvPr>
          <p:cNvSpPr txBox="1"/>
          <p:nvPr/>
        </p:nvSpPr>
        <p:spPr>
          <a:xfrm>
            <a:off x="3048000" y="842432"/>
            <a:ext cx="6096000" cy="369332"/>
          </a:xfrm>
          <a:prstGeom prst="rect">
            <a:avLst/>
          </a:prstGeom>
          <a:noFill/>
        </p:spPr>
        <p:txBody>
          <a:bodyPr wrap="square">
            <a:spAutoFit/>
          </a:bodyPr>
          <a:lstStyle/>
          <a:p>
            <a:pPr algn="ctr"/>
            <a:r>
              <a:rPr lang="en-IN" sz="1800" b="1" dirty="0">
                <a:solidFill>
                  <a:srgbClr val="0070C0"/>
                </a:solidFill>
              </a:rPr>
              <a:t>21</a:t>
            </a:r>
            <a:r>
              <a:rPr lang="en-IN" sz="1800" b="1" baseline="30000" dirty="0">
                <a:solidFill>
                  <a:srgbClr val="0070C0"/>
                </a:solidFill>
              </a:rPr>
              <a:t>st</a:t>
            </a:r>
            <a:r>
              <a:rPr lang="en-IN" sz="1800" b="1" dirty="0">
                <a:solidFill>
                  <a:srgbClr val="0070C0"/>
                </a:solidFill>
              </a:rPr>
              <a:t> -22</a:t>
            </a:r>
            <a:r>
              <a:rPr lang="en-IN" sz="1800" b="1" baseline="30000" dirty="0">
                <a:solidFill>
                  <a:srgbClr val="0070C0"/>
                </a:solidFill>
              </a:rPr>
              <a:t>nd</a:t>
            </a:r>
            <a:r>
              <a:rPr lang="en-IN" sz="1800" b="1" dirty="0">
                <a:solidFill>
                  <a:srgbClr val="0070C0"/>
                </a:solidFill>
              </a:rPr>
              <a:t> November 2025</a:t>
            </a:r>
          </a:p>
        </p:txBody>
      </p:sp>
      <p:sp>
        <p:nvSpPr>
          <p:cNvPr id="16" name="TextBox 15">
            <a:extLst>
              <a:ext uri="{FF2B5EF4-FFF2-40B4-BE49-F238E27FC236}">
                <a16:creationId xmlns:a16="http://schemas.microsoft.com/office/drawing/2014/main" id="{0E704A34-13A2-6F55-F755-EB9F72619216}"/>
              </a:ext>
            </a:extLst>
          </p:cNvPr>
          <p:cNvSpPr txBox="1"/>
          <p:nvPr/>
        </p:nvSpPr>
        <p:spPr>
          <a:xfrm>
            <a:off x="6575890" y="5653651"/>
            <a:ext cx="5136220" cy="1354217"/>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 Fig. 3. </a:t>
            </a:r>
            <a:r>
              <a:rPr lang="en-US" sz="1600" dirty="0"/>
              <a:t>Composite view of model outputs: Feature Importance (Top-Left), Risk </a:t>
            </a:r>
            <a:r>
              <a:rPr lang="en-US" sz="1600" dirty="0" err="1"/>
              <a:t>Distri</a:t>
            </a:r>
            <a:r>
              <a:rPr lang="en-US" sz="1600" dirty="0"/>
              <a:t>- </a:t>
            </a:r>
            <a:r>
              <a:rPr lang="en-US" sz="1600" dirty="0" err="1"/>
              <a:t>bution</a:t>
            </a:r>
            <a:r>
              <a:rPr lang="en-US" sz="1600" dirty="0"/>
              <a:t> (Top-Right), Stress Test Summary (Bottom-Left), TCAV Concept Importance Heatmap (Bottom-Right).</a:t>
            </a:r>
            <a:endParaRPr lang="en-IN" sz="16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626678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600200"/>
            <a:ext cx="11407806" cy="5257800"/>
          </a:xfrm>
        </p:spPr>
        <p:txBody>
          <a:bodyPr>
            <a:normAutofit lnSpcReduction="10000"/>
          </a:bodyPr>
          <a:lstStyle/>
          <a:p>
            <a:pPr algn="l"/>
            <a:r>
              <a:rPr lang="en-IN" dirty="0">
                <a:latin typeface="Comic Sans MS" panose="030F0702030302020204" pitchFamily="66" charset="0"/>
              </a:rPr>
              <a:t>8. COMPARATIVE ANALYSIS: </a:t>
            </a: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sz="1800" dirty="0">
              <a:latin typeface="Arial" panose="020B0604020202020204" pitchFamily="34" charset="0"/>
              <a:cs typeface="Arial" panose="020B0604020202020204" pitchFamily="34" charset="0"/>
            </a:endParaRPr>
          </a:p>
          <a:p>
            <a:pPr algn="l"/>
            <a:endParaRPr lang="en-IN" sz="1800" dirty="0">
              <a:latin typeface="Arial" panose="020B0604020202020204" pitchFamily="34" charset="0"/>
              <a:cs typeface="Arial" panose="020B0604020202020204" pitchFamily="34" charset="0"/>
            </a:endParaRPr>
          </a:p>
          <a:p>
            <a:pPr algn="l"/>
            <a:r>
              <a:rPr lang="en-IN" sz="1800" dirty="0">
                <a:latin typeface="Arial" panose="020B0604020202020204" pitchFamily="34" charset="0"/>
                <a:cs typeface="Arial" panose="020B0604020202020204" pitchFamily="34" charset="0"/>
              </a:rPr>
              <a:t>				Table 4. Traditional vs Proposed Comparison</a:t>
            </a:r>
          </a:p>
        </p:txBody>
      </p:sp>
      <p:grpSp>
        <p:nvGrpSpPr>
          <p:cNvPr id="8" name="Group 7">
            <a:extLst>
              <a:ext uri="{FF2B5EF4-FFF2-40B4-BE49-F238E27FC236}">
                <a16:creationId xmlns:a16="http://schemas.microsoft.com/office/drawing/2014/main" id="{B987E8F7-C0CC-FFCE-DBD2-E71CC870B01B}"/>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8DF7348A-2A75-66EB-6BE6-909355CBC421}"/>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DCA36320-AA5E-6184-2620-9BF0C8CDC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6A291787-5D6B-1920-1180-C36F5F1EF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Table 1">
            <a:extLst>
              <a:ext uri="{FF2B5EF4-FFF2-40B4-BE49-F238E27FC236}">
                <a16:creationId xmlns:a16="http://schemas.microsoft.com/office/drawing/2014/main" id="{54B80AA6-308F-C1E6-5461-F8503C8E62D2}"/>
              </a:ext>
            </a:extLst>
          </p:cNvPr>
          <p:cNvGraphicFramePr>
            <a:graphicFrameLocks noGrp="1"/>
          </p:cNvGraphicFramePr>
          <p:nvPr>
            <p:extLst>
              <p:ext uri="{D42A27DB-BD31-4B8C-83A1-F6EECF244321}">
                <p14:modId xmlns:p14="http://schemas.microsoft.com/office/powerpoint/2010/main" val="3862227157"/>
              </p:ext>
            </p:extLst>
          </p:nvPr>
        </p:nvGraphicFramePr>
        <p:xfrm>
          <a:off x="957533" y="2130449"/>
          <a:ext cx="10911912" cy="4267902"/>
        </p:xfrm>
        <a:graphic>
          <a:graphicData uri="http://schemas.openxmlformats.org/drawingml/2006/table">
            <a:tbl>
              <a:tblPr/>
              <a:tblGrid>
                <a:gridCol w="3637304">
                  <a:extLst>
                    <a:ext uri="{9D8B030D-6E8A-4147-A177-3AD203B41FA5}">
                      <a16:colId xmlns:a16="http://schemas.microsoft.com/office/drawing/2014/main" val="3222307350"/>
                    </a:ext>
                  </a:extLst>
                </a:gridCol>
                <a:gridCol w="3637304">
                  <a:extLst>
                    <a:ext uri="{9D8B030D-6E8A-4147-A177-3AD203B41FA5}">
                      <a16:colId xmlns:a16="http://schemas.microsoft.com/office/drawing/2014/main" val="3851461987"/>
                    </a:ext>
                  </a:extLst>
                </a:gridCol>
                <a:gridCol w="3637304">
                  <a:extLst>
                    <a:ext uri="{9D8B030D-6E8A-4147-A177-3AD203B41FA5}">
                      <a16:colId xmlns:a16="http://schemas.microsoft.com/office/drawing/2014/main" val="2518250854"/>
                    </a:ext>
                  </a:extLst>
                </a:gridCol>
              </a:tblGrid>
              <a:tr h="473014">
                <a:tc>
                  <a:txBody>
                    <a:bodyPr/>
                    <a:lstStyle/>
                    <a:p>
                      <a:pPr>
                        <a:buNone/>
                      </a:pPr>
                      <a:r>
                        <a:rPr lang="en-US" sz="1500" b="1">
                          <a:latin typeface="Arial" panose="020B0604020202020204" pitchFamily="34" charset="0"/>
                          <a:cs typeface="Arial" panose="020B0604020202020204" pitchFamily="34" charset="0"/>
                        </a:rPr>
                        <a:t>Feature</a:t>
                      </a:r>
                    </a:p>
                  </a:txBody>
                  <a:tcPr marL="73751" marR="73751" marT="36876" marB="36876" anchor="ctr"/>
                </a:tc>
                <a:tc>
                  <a:txBody>
                    <a:bodyPr/>
                    <a:lstStyle/>
                    <a:p>
                      <a:pPr>
                        <a:buNone/>
                      </a:pPr>
                      <a:r>
                        <a:rPr lang="en-US" sz="1500" b="1">
                          <a:latin typeface="Arial" panose="020B0604020202020204" pitchFamily="34" charset="0"/>
                          <a:cs typeface="Arial" panose="020B0604020202020204" pitchFamily="34" charset="0"/>
                        </a:rPr>
                        <a:t>Traditional ML Model</a:t>
                      </a:r>
                    </a:p>
                  </a:txBody>
                  <a:tcPr marL="73751" marR="73751" marT="36876" marB="36876" anchor="ctr"/>
                </a:tc>
                <a:tc>
                  <a:txBody>
                    <a:bodyPr/>
                    <a:lstStyle/>
                    <a:p>
                      <a:pPr>
                        <a:buNone/>
                      </a:pPr>
                      <a:r>
                        <a:rPr lang="en-US" sz="1500" b="1" dirty="0">
                          <a:latin typeface="Arial" panose="020B0604020202020204" pitchFamily="34" charset="0"/>
                          <a:cs typeface="Arial" panose="020B0604020202020204" pitchFamily="34" charset="0"/>
                        </a:rPr>
                        <a:t>Quantum-Inspired Causal XAI (Proposed)</a:t>
                      </a:r>
                    </a:p>
                  </a:txBody>
                  <a:tcPr marL="73751" marR="73751" marT="36876" marB="36876" anchor="ctr"/>
                </a:tc>
                <a:extLst>
                  <a:ext uri="{0D108BD9-81ED-4DB2-BD59-A6C34878D82A}">
                    <a16:rowId xmlns:a16="http://schemas.microsoft.com/office/drawing/2014/main" val="3228097225"/>
                  </a:ext>
                </a:extLst>
              </a:tr>
              <a:tr h="880323">
                <a:tc>
                  <a:txBody>
                    <a:bodyPr/>
                    <a:lstStyle/>
                    <a:p>
                      <a:pPr>
                        <a:buNone/>
                      </a:pPr>
                      <a:r>
                        <a:rPr lang="en-US" sz="1500">
                          <a:latin typeface="Arial" panose="020B0604020202020204" pitchFamily="34" charset="0"/>
                          <a:cs typeface="Arial" panose="020B0604020202020204" pitchFamily="34" charset="0"/>
                        </a:rPr>
                        <a:t>Core Logic</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Utilized standard feature inputs with purely statistical learning.</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Employs Random Fourier-based quantum embeddings and causal graph learning for deeper relationship discovery.</a:t>
                      </a:r>
                    </a:p>
                  </a:txBody>
                  <a:tcPr marL="73751" marR="73751" marT="36876" marB="36876" anchor="ctr"/>
                </a:tc>
                <a:extLst>
                  <a:ext uri="{0D108BD9-81ED-4DB2-BD59-A6C34878D82A}">
                    <a16:rowId xmlns:a16="http://schemas.microsoft.com/office/drawing/2014/main" val="3550704076"/>
                  </a:ext>
                </a:extLst>
              </a:tr>
              <a:tr h="880323">
                <a:tc>
                  <a:txBody>
                    <a:bodyPr/>
                    <a:lstStyle/>
                    <a:p>
                      <a:pPr>
                        <a:buNone/>
                      </a:pPr>
                      <a:r>
                        <a:rPr lang="en-US" sz="1500">
                          <a:latin typeface="Arial" panose="020B0604020202020204" pitchFamily="34" charset="0"/>
                          <a:cs typeface="Arial" panose="020B0604020202020204" pitchFamily="34" charset="0"/>
                        </a:rPr>
                        <a:t>Interpretability</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Relied on post-hoc methods like SHAP or LIME, offering limited causal insight.</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Integrates TCAV concept-level explainability, mapping model behavior to liquidity, credit exposure, and credit score.</a:t>
                      </a:r>
                    </a:p>
                  </a:txBody>
                  <a:tcPr marL="73751" marR="73751" marT="36876" marB="36876" anchor="ctr"/>
                </a:tc>
                <a:extLst>
                  <a:ext uri="{0D108BD9-81ED-4DB2-BD59-A6C34878D82A}">
                    <a16:rowId xmlns:a16="http://schemas.microsoft.com/office/drawing/2014/main" val="3963437987"/>
                  </a:ext>
                </a:extLst>
              </a:tr>
              <a:tr h="880323">
                <a:tc>
                  <a:txBody>
                    <a:bodyPr/>
                    <a:lstStyle/>
                    <a:p>
                      <a:pPr>
                        <a:buNone/>
                      </a:pPr>
                      <a:r>
                        <a:rPr lang="en-US" sz="1500">
                          <a:latin typeface="Arial" panose="020B0604020202020204" pitchFamily="34" charset="0"/>
                          <a:cs typeface="Arial" panose="020B0604020202020204" pitchFamily="34" charset="0"/>
                        </a:rPr>
                        <a:t>Robustness Under Stress</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Performance degraded under macroeconomic shocks due to lack of causal reasoning.</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Maintains interpretability and consistency through stress-aware causal modeling and adaptive TCAV scoring.</a:t>
                      </a:r>
                    </a:p>
                  </a:txBody>
                  <a:tcPr marL="73751" marR="73751" marT="36876" marB="36876" anchor="ctr"/>
                </a:tc>
                <a:extLst>
                  <a:ext uri="{0D108BD9-81ED-4DB2-BD59-A6C34878D82A}">
                    <a16:rowId xmlns:a16="http://schemas.microsoft.com/office/drawing/2014/main" val="2159862921"/>
                  </a:ext>
                </a:extLst>
              </a:tr>
              <a:tr h="880323">
                <a:tc>
                  <a:txBody>
                    <a:bodyPr/>
                    <a:lstStyle/>
                    <a:p>
                      <a:pPr>
                        <a:buNone/>
                      </a:pPr>
                      <a:r>
                        <a:rPr lang="en-US" sz="1500">
                          <a:latin typeface="Arial" panose="020B0604020202020204" pitchFamily="34" charset="0"/>
                          <a:cs typeface="Arial" panose="020B0604020202020204" pitchFamily="34" charset="0"/>
                        </a:rPr>
                        <a:t>Overall Performance</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High predictive accuracy but poor transparency and regulatory alignment.</a:t>
                      </a:r>
                    </a:p>
                  </a:txBody>
                  <a:tcPr marL="73751" marR="73751" marT="36876" marB="36876" anchor="ctr"/>
                </a:tc>
                <a:tc>
                  <a:txBody>
                    <a:bodyPr/>
                    <a:lstStyle/>
                    <a:p>
                      <a:pPr algn="just">
                        <a:buNone/>
                      </a:pPr>
                      <a:r>
                        <a:rPr lang="en-US" sz="1500" dirty="0">
                          <a:latin typeface="Arial" panose="020B0604020202020204" pitchFamily="34" charset="0"/>
                          <a:cs typeface="Arial" panose="020B0604020202020204" pitchFamily="34" charset="0"/>
                        </a:rPr>
                        <a:t>Provides a balanced trade-off between accuracy and explainability, suitable for financial risk monitoring and compliance.</a:t>
                      </a:r>
                    </a:p>
                  </a:txBody>
                  <a:tcPr marL="73751" marR="73751" marT="36876" marB="36876" anchor="ctr"/>
                </a:tc>
                <a:extLst>
                  <a:ext uri="{0D108BD9-81ED-4DB2-BD59-A6C34878D82A}">
                    <a16:rowId xmlns:a16="http://schemas.microsoft.com/office/drawing/2014/main" val="1083457452"/>
                  </a:ext>
                </a:extLst>
              </a:tr>
            </a:tbl>
          </a:graphicData>
        </a:graphic>
      </p:graphicFrame>
    </p:spTree>
    <p:extLst>
      <p:ext uri="{BB962C8B-B14F-4D97-AF65-F5344CB8AC3E}">
        <p14:creationId xmlns:p14="http://schemas.microsoft.com/office/powerpoint/2010/main" val="102008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571625"/>
            <a:ext cx="11407806" cy="5148352"/>
          </a:xfrm>
        </p:spPr>
        <p:txBody>
          <a:bodyPr>
            <a:normAutofit fontScale="92500" lnSpcReduction="10000"/>
          </a:bodyPr>
          <a:lstStyle/>
          <a:p>
            <a:pPr algn="l"/>
            <a:r>
              <a:rPr lang="en-IN" sz="2600" dirty="0">
                <a:latin typeface="Comic Sans MS" panose="030F0702030302020204" pitchFamily="66" charset="0"/>
              </a:rPr>
              <a:t>9. CONCLUSION &amp; FUTURE WORK :</a:t>
            </a:r>
          </a:p>
          <a:p>
            <a:pPr marL="342900" indent="-342900" algn="just">
              <a:buFont typeface="Arial" panose="020B0604020202020204" pitchFamily="34" charset="0"/>
              <a:buChar char="•"/>
            </a:pPr>
            <a:r>
              <a:rPr lang="en-IN" b="1" dirty="0">
                <a:latin typeface="Arial" panose="020B0604020202020204" pitchFamily="34" charset="0"/>
                <a:cs typeface="Arial" panose="020B0604020202020204" pitchFamily="34" charset="0"/>
              </a:rPr>
              <a:t>Conclusion</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This work presents a Quantum-Inspired Causal Explainable AI (XAI) framework for Counterparty Credit Risk (CCR) analysis, integrating quantum-inspired embeddings, causal graph learning, and concept-level TCAV explainability.</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The framework achieves a strong balance between predictive performance and interpretability, offering transparent insights into financial risk propagation.</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While the model demonstrates robustness under stress testing, limitations include low recall for default cases and the computational overhead of quantum embeddings.</a:t>
            </a:r>
            <a:endParaRPr lang="en-IN"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b="1" dirty="0">
                <a:latin typeface="Arial" panose="020B0604020202020204" pitchFamily="34" charset="0"/>
                <a:cs typeface="Arial" panose="020B0604020202020204" pitchFamily="34" charset="0"/>
              </a:rPr>
              <a:t>Future Work</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Quantum Integration: Implement real quantum hardware for feature embedding and computation.</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Enhanced Causal Discovery: Apply advanced causal inference methods such as Granger Causality for deeper dependency modeling.</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Domain-Guided Constraints: Incorporate financial domain knowledge to refine causal structure accuracy.</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Multimodal Explainability: Extend the framework by fusing tabular data with financial news sentiment for richer, context-aware risk interpretation.</a:t>
            </a:r>
            <a:endParaRPr lang="en-IN"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9C2D50A6-892C-D5FB-CFCC-D7EFEE4EEC4D}"/>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8BF9A993-D006-CED0-D47F-4474728126D1}"/>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A08FE0DC-E1BF-E70C-5FAE-2F14464C33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B935A1DB-F5A5-CD3A-4C1D-5D2DC3D0E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84327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461639" y="1630392"/>
            <a:ext cx="11407806" cy="5026884"/>
          </a:xfrm>
        </p:spPr>
        <p:txBody>
          <a:bodyPr>
            <a:normAutofit fontScale="85000" lnSpcReduction="10000"/>
          </a:bodyPr>
          <a:lstStyle/>
          <a:p>
            <a:pPr algn="just"/>
            <a:r>
              <a:rPr lang="en-IN" sz="2800" dirty="0">
                <a:latin typeface="Comic Sans MS" panose="030F0702030302020204" pitchFamily="66" charset="0"/>
              </a:rPr>
              <a:t>10. REFERENCES :</a:t>
            </a:r>
          </a:p>
          <a:p>
            <a:pPr marL="457200" indent="-457200" algn="just">
              <a:buAutoNum type="arabicPeriod"/>
            </a:pPr>
            <a:r>
              <a:rPr lang="en-US" sz="1800" dirty="0">
                <a:latin typeface="Arial" panose="020B0604020202020204" pitchFamily="34" charset="0"/>
                <a:cs typeface="Arial" panose="020B0604020202020204" pitchFamily="34" charset="0"/>
              </a:rPr>
              <a:t>De Santis, A., Campi, R., Bianchi, M., Brambilla, M.: Visual TCAV: Concept based Attribution and Saliency Maps for Post hoc Explainability in Image Classification. </a:t>
            </a:r>
            <a:r>
              <a:rPr lang="en-US" sz="1800" dirty="0" err="1">
                <a:latin typeface="Arial" panose="020B0604020202020204" pitchFamily="34" charset="0"/>
                <a:cs typeface="Arial" panose="020B0604020202020204" pitchFamily="34" charset="0"/>
              </a:rPr>
              <a:t>arXiv</a:t>
            </a:r>
            <a:r>
              <a:rPr lang="en-US" sz="1800" dirty="0">
                <a:latin typeface="Arial" panose="020B0604020202020204" pitchFamily="34" charset="0"/>
                <a:cs typeface="Arial" panose="020B0604020202020204" pitchFamily="34" charset="0"/>
              </a:rPr>
              <a:t> preprint arXiv:2411.05698 (2024). https://arxiv.org/abs/2411.05698 </a:t>
            </a:r>
          </a:p>
          <a:p>
            <a:pPr marL="457200" indent="-457200" algn="just">
              <a:buAutoNum type="arabicPeriod"/>
            </a:pPr>
            <a:r>
              <a:rPr lang="en-US" sz="1800" dirty="0" err="1">
                <a:latin typeface="Arial" panose="020B0604020202020204" pitchFamily="34" charset="0"/>
                <a:cs typeface="Arial" panose="020B0604020202020204" pitchFamily="34" charset="0"/>
              </a:rPr>
              <a:t>Ileberi</a:t>
            </a:r>
            <a:r>
              <a:rPr lang="en-US" sz="1800" dirty="0">
                <a:latin typeface="Arial" panose="020B0604020202020204" pitchFamily="34" charset="0"/>
                <a:cs typeface="Arial" panose="020B0604020202020204" pitchFamily="34" charset="0"/>
              </a:rPr>
              <a:t>, E., Sun, Y., Wang, Z.: A machine learning based credit risk prediction engine system using a stacked classifier and a filter based feature selection method. J. Big Data 11(23), 2024. https://doi.org/10.1186/s40537-024-00882-0 </a:t>
            </a:r>
          </a:p>
          <a:p>
            <a:pPr marL="457200" indent="-457200" algn="just">
              <a:buAutoNum type="arabicPeriod"/>
            </a:pPr>
            <a:r>
              <a:rPr lang="en-US" sz="1800" dirty="0">
                <a:latin typeface="Arial" panose="020B0604020202020204" pitchFamily="34" charset="0"/>
                <a:cs typeface="Arial" panose="020B0604020202020204" pitchFamily="34" charset="0"/>
              </a:rPr>
              <a:t>Quan, J., Sun, X.: Credit risk assessment using the factorization machine model with feature interactions. </a:t>
            </a:r>
            <a:r>
              <a:rPr lang="en-US" sz="1800" dirty="0" err="1">
                <a:latin typeface="Arial" panose="020B0604020202020204" pitchFamily="34" charset="0"/>
                <a:cs typeface="Arial" panose="020B0604020202020204" pitchFamily="34" charset="0"/>
              </a:rPr>
              <a:t>Humanit</a:t>
            </a:r>
            <a:r>
              <a:rPr lang="en-US" sz="1800" dirty="0">
                <a:latin typeface="Arial" panose="020B0604020202020204" pitchFamily="34" charset="0"/>
                <a:cs typeface="Arial" panose="020B0604020202020204" pitchFamily="34" charset="0"/>
              </a:rPr>
              <a:t>. Soc. Sci. Commun. 11, 234 (2024). https://doi.org/10.1057/s41599-024-02700-7 </a:t>
            </a:r>
          </a:p>
          <a:p>
            <a:pPr marL="457200" indent="-457200" algn="just">
              <a:buAutoNum type="arabicPeriod"/>
            </a:pPr>
            <a:r>
              <a:rPr lang="en-US" sz="1800" dirty="0">
                <a:latin typeface="Arial" panose="020B0604020202020204" pitchFamily="34" charset="0"/>
                <a:cs typeface="Arial" panose="020B0604020202020204" pitchFamily="34" charset="0"/>
              </a:rPr>
              <a:t>Bowden, J., Cummins, M., Dao, D., Jain, K.: Explainable AI for Financial Risk Management. University of Strathclyde (2024). https://strathprints.strath.ac.uk/89573/ </a:t>
            </a:r>
          </a:p>
          <a:p>
            <a:pPr marL="457200" indent="-457200" algn="just">
              <a:buAutoNum type="arabicPeriod"/>
            </a:pPr>
            <a:r>
              <a:rPr lang="en-US" sz="1800" dirty="0" err="1">
                <a:latin typeface="Arial" panose="020B0604020202020204" pitchFamily="34" charset="0"/>
                <a:cs typeface="Arial" panose="020B0604020202020204" pitchFamily="34" charset="0"/>
              </a:rPr>
              <a:t>Černevičiene</a:t>
            </a:r>
            <a:r>
              <a:rPr lang="en-US" sz="1800" dirty="0">
                <a:latin typeface="Arial" panose="020B0604020202020204" pitchFamily="34" charset="0"/>
                <a:cs typeface="Arial" panose="020B0604020202020204" pitchFamily="34" charset="0"/>
              </a:rPr>
              <a:t>˙, J., </a:t>
            </a:r>
            <a:r>
              <a:rPr lang="en-US" sz="1800" dirty="0" err="1">
                <a:latin typeface="Arial" panose="020B0604020202020204" pitchFamily="34" charset="0"/>
                <a:cs typeface="Arial" panose="020B0604020202020204" pitchFamily="34" charset="0"/>
              </a:rPr>
              <a:t>Kabašinskas</a:t>
            </a:r>
            <a:r>
              <a:rPr lang="en-US" sz="1800" dirty="0">
                <a:latin typeface="Arial" panose="020B0604020202020204" pitchFamily="34" charset="0"/>
                <a:cs typeface="Arial" panose="020B0604020202020204" pitchFamily="34" charset="0"/>
              </a:rPr>
              <a:t>, A.: Explainable artificial intelligence in fi- nance: a systematic literature review. </a:t>
            </a:r>
            <a:r>
              <a:rPr lang="en-US" sz="1800" dirty="0" err="1">
                <a:latin typeface="Arial" panose="020B0604020202020204" pitchFamily="34" charset="0"/>
                <a:cs typeface="Arial" panose="020B0604020202020204" pitchFamily="34" charset="0"/>
              </a:rPr>
              <a:t>Artif</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Intell</a:t>
            </a:r>
            <a:r>
              <a:rPr lang="en-US" sz="1800" dirty="0">
                <a:latin typeface="Arial" panose="020B0604020202020204" pitchFamily="34" charset="0"/>
                <a:cs typeface="Arial" panose="020B0604020202020204" pitchFamily="34" charset="0"/>
              </a:rPr>
              <a:t>. Rev. 57, 216 (2024). https://doi.org/10.1007/s10462-024-10854-8 </a:t>
            </a:r>
          </a:p>
          <a:p>
            <a:pPr marL="457200" indent="-457200" algn="just">
              <a:buAutoNum type="arabicPeriod"/>
            </a:pPr>
            <a:r>
              <a:rPr lang="en-US" sz="1800" dirty="0" err="1">
                <a:latin typeface="Arial" panose="020B0604020202020204" pitchFamily="34" charset="0"/>
                <a:cs typeface="Arial" panose="020B0604020202020204" pitchFamily="34" charset="0"/>
              </a:rPr>
              <a:t>Sonani</a:t>
            </a:r>
            <a:r>
              <a:rPr lang="en-US" sz="1800" dirty="0">
                <a:latin typeface="Arial" panose="020B0604020202020204" pitchFamily="34" charset="0"/>
                <a:cs typeface="Arial" panose="020B0604020202020204" pitchFamily="34" charset="0"/>
              </a:rPr>
              <a:t>, R.: Hybrid XAI Framework with Regulatory Alignment Metric for </a:t>
            </a:r>
            <a:r>
              <a:rPr lang="en-US" sz="1800" dirty="0" err="1">
                <a:latin typeface="Arial" panose="020B0604020202020204" pitchFamily="34" charset="0"/>
                <a:cs typeface="Arial" panose="020B0604020202020204" pitchFamily="34" charset="0"/>
              </a:rPr>
              <a:t>Adap</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tive</a:t>
            </a:r>
            <a:r>
              <a:rPr lang="en-US" sz="1800" dirty="0">
                <a:latin typeface="Arial" panose="020B0604020202020204" pitchFamily="34" charset="0"/>
                <a:cs typeface="Arial" panose="020B0604020202020204" pitchFamily="34" charset="0"/>
              </a:rPr>
              <a:t> Compliance Enforcement by Government in Financial Systems. (2024). https://orcid.org/0009-0009-4072-0479 </a:t>
            </a:r>
          </a:p>
          <a:p>
            <a:pPr marL="457200" indent="-457200" algn="just">
              <a:buAutoNum type="arabicPeriod"/>
            </a:pPr>
            <a:r>
              <a:rPr lang="en-US" sz="1800" dirty="0" err="1">
                <a:latin typeface="Arial" panose="020B0604020202020204" pitchFamily="34" charset="0"/>
                <a:cs typeface="Arial" panose="020B0604020202020204" pitchFamily="34" charset="0"/>
              </a:rPr>
              <a:t>Schetakis</a:t>
            </a:r>
            <a:r>
              <a:rPr lang="en-US" sz="1800" dirty="0">
                <a:latin typeface="Arial" panose="020B0604020202020204" pitchFamily="34" charset="0"/>
                <a:cs typeface="Arial" panose="020B0604020202020204" pitchFamily="34" charset="0"/>
              </a:rPr>
              <a:t>, N., Kottas, D., Branagan, S.R.K., Papandreou, A.: Quantum Machine Learning for Credit Scoring. Mathematics 12(9), 1391 (2024). </a:t>
            </a:r>
            <a:r>
              <a:rPr lang="en-US" sz="1800" dirty="0">
                <a:latin typeface="Arial" panose="020B0604020202020204" pitchFamily="34" charset="0"/>
                <a:cs typeface="Arial" panose="020B0604020202020204" pitchFamily="34" charset="0"/>
                <a:hlinkClick r:id="rId2"/>
              </a:rPr>
              <a:t>https://www.mdpi.com/2227-7390/12/9/1391</a:t>
            </a:r>
            <a:endParaRPr lang="en-US" sz="1800" dirty="0">
              <a:latin typeface="Arial" panose="020B0604020202020204" pitchFamily="34" charset="0"/>
              <a:cs typeface="Arial" panose="020B0604020202020204" pitchFamily="34" charset="0"/>
            </a:endParaRPr>
          </a:p>
          <a:p>
            <a:pPr marL="457200" indent="-457200" algn="just">
              <a:buAutoNum type="arabicPeriod"/>
            </a:pPr>
            <a:r>
              <a:rPr lang="en-US" sz="1800" dirty="0" err="1">
                <a:latin typeface="Arial" panose="020B0604020202020204" pitchFamily="34" charset="0"/>
                <a:cs typeface="Arial" panose="020B0604020202020204" pitchFamily="34" charset="0"/>
              </a:rPr>
              <a:t>Mironowicz</a:t>
            </a:r>
            <a:r>
              <a:rPr lang="en-US" sz="1800" dirty="0">
                <a:latin typeface="Arial" panose="020B0604020202020204" pitchFamily="34" charset="0"/>
                <a:cs typeface="Arial" panose="020B0604020202020204" pitchFamily="34" charset="0"/>
              </a:rPr>
              <a:t>, P., Lee, T.C.M., Lim, M.H., Shapiro, J.K.: Applications of Quan- tum Machine Learning for Quantitative Finance. </a:t>
            </a:r>
            <a:r>
              <a:rPr lang="en-US" sz="1800" dirty="0" err="1">
                <a:latin typeface="Arial" panose="020B0604020202020204" pitchFamily="34" charset="0"/>
                <a:cs typeface="Arial" panose="020B0604020202020204" pitchFamily="34" charset="0"/>
              </a:rPr>
              <a:t>arXiv</a:t>
            </a:r>
            <a:r>
              <a:rPr lang="en-US" sz="1800" dirty="0">
                <a:latin typeface="Arial" panose="020B0604020202020204" pitchFamily="34" charset="0"/>
                <a:cs typeface="Arial" panose="020B0604020202020204" pitchFamily="34" charset="0"/>
              </a:rPr>
              <a:t> preprint arXiv:2405.10119 (2024). https://doi.org/10.48550/arXiv.2405.10119 </a:t>
            </a:r>
          </a:p>
          <a:p>
            <a:pPr marL="457200" indent="-457200" algn="just">
              <a:buAutoNum type="arabicPeriod"/>
            </a:pPr>
            <a:r>
              <a:rPr lang="en-US" sz="1800" dirty="0">
                <a:latin typeface="Arial" panose="020B0604020202020204" pitchFamily="34" charset="0"/>
                <a:cs typeface="Arial" panose="020B0604020202020204" pitchFamily="34" charset="0"/>
              </a:rPr>
              <a:t>Wilkens, S., Moorhouse, J.: Quantum Computing for Financial Risk Measurement. Quantum Inf. Process. 22, 51 (2023). https://dx.doi.org/10.2139/ssrn.4022463 </a:t>
            </a:r>
          </a:p>
          <a:p>
            <a:pPr marL="457200" indent="-457200" algn="just">
              <a:buAutoNum type="arabicPeriod"/>
            </a:pPr>
            <a:endParaRPr lang="en-US" sz="1800" dirty="0"/>
          </a:p>
        </p:txBody>
      </p:sp>
      <p:grpSp>
        <p:nvGrpSpPr>
          <p:cNvPr id="8" name="Group 7">
            <a:extLst>
              <a:ext uri="{FF2B5EF4-FFF2-40B4-BE49-F238E27FC236}">
                <a16:creationId xmlns:a16="http://schemas.microsoft.com/office/drawing/2014/main" id="{D7A1FB5B-63A7-D71A-A7B7-9A9B68189A14}"/>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3291D673-439C-BCCE-1A12-A053F84924FE}"/>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3D93E77D-0E7A-3D97-D63A-BF4336D67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1C47AD73-0CBA-C92E-2901-3870DAB68D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54195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C725-25BA-7F1C-5178-0F9A66FAD8F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174B1A-8D14-A5B9-9A77-C5663E0A2CF1}"/>
              </a:ext>
            </a:extLst>
          </p:cNvPr>
          <p:cNvSpPr>
            <a:spLocks noGrp="1"/>
          </p:cNvSpPr>
          <p:nvPr>
            <p:ph type="subTitle" idx="1"/>
          </p:nvPr>
        </p:nvSpPr>
        <p:spPr>
          <a:xfrm>
            <a:off x="461639" y="1587260"/>
            <a:ext cx="11407806" cy="5003321"/>
          </a:xfrm>
        </p:spPr>
        <p:txBody>
          <a:bodyPr>
            <a:noAutofit/>
          </a:bodyPr>
          <a:lstStyle/>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Herman, D., </a:t>
            </a:r>
            <a:r>
              <a:rPr lang="en-US" sz="1500" dirty="0" err="1">
                <a:latin typeface="Arial" panose="020B0604020202020204" pitchFamily="34" charset="0"/>
                <a:cs typeface="Arial" panose="020B0604020202020204" pitchFamily="34" charset="0"/>
              </a:rPr>
              <a:t>Googin</a:t>
            </a:r>
            <a:r>
              <a:rPr lang="en-US" sz="1500" dirty="0">
                <a:latin typeface="Arial" panose="020B0604020202020204" pitchFamily="34" charset="0"/>
                <a:cs typeface="Arial" panose="020B0604020202020204" pitchFamily="34" charset="0"/>
              </a:rPr>
              <a:t>, C., Liu, X., Yang, S.T.: Quantum computing for finance. Nat. Rev. Phys. 5, 450–465 (2023). https://doi.org/10.1038/s42254-023-00603-1 </a:t>
            </a:r>
          </a:p>
          <a:p>
            <a:pPr marL="342900" indent="-342900" algn="just">
              <a:buFont typeface="+mj-lt"/>
              <a:buAutoNum type="arabicPeriod" startAt="10"/>
            </a:pPr>
            <a:r>
              <a:rPr lang="en-US" sz="1500" dirty="0" err="1">
                <a:latin typeface="Arial" panose="020B0604020202020204" pitchFamily="34" charset="0"/>
                <a:cs typeface="Arial" panose="020B0604020202020204" pitchFamily="34" charset="0"/>
              </a:rPr>
              <a:t>Černevičiene</a:t>
            </a:r>
            <a:r>
              <a:rPr lang="en-US" sz="1500" dirty="0">
                <a:latin typeface="Arial" panose="020B0604020202020204" pitchFamily="34" charset="0"/>
                <a:cs typeface="Arial" panose="020B0604020202020204" pitchFamily="34" charset="0"/>
              </a:rPr>
              <a:t>˙, J., </a:t>
            </a:r>
            <a:r>
              <a:rPr lang="en-US" sz="1500" dirty="0" err="1">
                <a:latin typeface="Arial" panose="020B0604020202020204" pitchFamily="34" charset="0"/>
                <a:cs typeface="Arial" panose="020B0604020202020204" pitchFamily="34" charset="0"/>
              </a:rPr>
              <a:t>Kabašinskas</a:t>
            </a:r>
            <a:r>
              <a:rPr lang="en-US" sz="1500" dirty="0">
                <a:latin typeface="Arial" panose="020B0604020202020204" pitchFamily="34" charset="0"/>
                <a:cs typeface="Arial" panose="020B0604020202020204" pitchFamily="34" charset="0"/>
              </a:rPr>
              <a:t>, A.: Explainable artificial intelligence in finance: a systematic literature review. </a:t>
            </a:r>
            <a:r>
              <a:rPr lang="en-US" sz="1500" dirty="0" err="1">
                <a:latin typeface="Arial" panose="020B0604020202020204" pitchFamily="34" charset="0"/>
                <a:cs typeface="Arial" panose="020B0604020202020204" pitchFamily="34" charset="0"/>
              </a:rPr>
              <a:t>Artif</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Intell</a:t>
            </a:r>
            <a:r>
              <a:rPr lang="en-US" sz="1500" dirty="0">
                <a:latin typeface="Arial" panose="020B0604020202020204" pitchFamily="34" charset="0"/>
                <a:cs typeface="Arial" panose="020B0604020202020204" pitchFamily="34" charset="0"/>
              </a:rPr>
              <a:t>. Rev. (2024) </a:t>
            </a:r>
          </a:p>
          <a:p>
            <a:pPr marL="342900" indent="-342900" algn="just">
              <a:buFont typeface="+mj-lt"/>
              <a:buAutoNum type="arabicPeriod" startAt="10"/>
            </a:pPr>
            <a:r>
              <a:rPr lang="en-US" sz="1500" dirty="0" err="1">
                <a:latin typeface="Arial" panose="020B0604020202020204" pitchFamily="34" charset="0"/>
                <a:cs typeface="Arial" panose="020B0604020202020204" pitchFamily="34" charset="0"/>
              </a:rPr>
              <a:t>Zolotukhin</a:t>
            </a:r>
            <a:r>
              <a:rPr lang="en-US" sz="1500" dirty="0">
                <a:latin typeface="Arial" panose="020B0604020202020204" pitchFamily="34" charset="0"/>
                <a:cs typeface="Arial" panose="020B0604020202020204" pitchFamily="34" charset="0"/>
              </a:rPr>
              <a:t>, Z., Ivanov, S., </a:t>
            </a:r>
            <a:r>
              <a:rPr lang="en-US" sz="1500" dirty="0" err="1">
                <a:latin typeface="Arial" panose="020B0604020202020204" pitchFamily="34" charset="0"/>
                <a:cs typeface="Arial" panose="020B0604020202020204" pitchFamily="34" charset="0"/>
              </a:rPr>
              <a:t>Ablayev</a:t>
            </a:r>
            <a:r>
              <a:rPr lang="en-US" sz="1500" dirty="0">
                <a:latin typeface="Arial" panose="020B0604020202020204" pitchFamily="34" charset="0"/>
                <a:cs typeface="Arial" panose="020B0604020202020204" pitchFamily="34" charset="0"/>
              </a:rPr>
              <a:t>, A.: Interpretable Machine Learning Models for Credit Scoring: A Comparative Study. </a:t>
            </a:r>
            <a:r>
              <a:rPr lang="en-US" sz="1500" dirty="0" err="1">
                <a:latin typeface="Arial" panose="020B0604020202020204" pitchFamily="34" charset="0"/>
                <a:cs typeface="Arial" panose="020B0604020202020204" pitchFamily="34" charset="0"/>
              </a:rPr>
              <a:t>Financ</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Innov</a:t>
            </a:r>
            <a:r>
              <a:rPr lang="en-US" sz="1500" dirty="0">
                <a:latin typeface="Arial" panose="020B0604020202020204" pitchFamily="34" charset="0"/>
                <a:cs typeface="Arial" panose="020B0604020202020204" pitchFamily="34" charset="0"/>
              </a:rPr>
              <a:t>. 9, 121 (2023)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Lee, C., Hsu Shih, W., Turing, A.: Feature Relevance Methods for Financial AI Explained. J. </a:t>
            </a:r>
            <a:r>
              <a:rPr lang="en-US" sz="1500" dirty="0" err="1">
                <a:latin typeface="Arial" panose="020B0604020202020204" pitchFamily="34" charset="0"/>
                <a:cs typeface="Arial" panose="020B0604020202020204" pitchFamily="34" charset="0"/>
              </a:rPr>
              <a:t>Financ</a:t>
            </a:r>
            <a:r>
              <a:rPr lang="en-US" sz="1500" dirty="0">
                <a:latin typeface="Arial" panose="020B0604020202020204" pitchFamily="34" charset="0"/>
                <a:cs typeface="Arial" panose="020B0604020202020204" pitchFamily="34" charset="0"/>
              </a:rPr>
              <a:t>. Data Sci. (2023)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Santos, M., Kim, D., Cooper, R.: Simplification Techniques for XAI Models in Banking Sector. Int. J. Bank. </a:t>
            </a:r>
            <a:r>
              <a:rPr lang="en-US" sz="1500" dirty="0" err="1">
                <a:latin typeface="Arial" panose="020B0604020202020204" pitchFamily="34" charset="0"/>
                <a:cs typeface="Arial" panose="020B0604020202020204" pitchFamily="34" charset="0"/>
              </a:rPr>
              <a:t>Financ</a:t>
            </a:r>
            <a:r>
              <a:rPr lang="en-US" sz="1500" dirty="0">
                <a:latin typeface="Arial" panose="020B0604020202020204" pitchFamily="34" charset="0"/>
                <a:cs typeface="Arial" panose="020B0604020202020204" pitchFamily="34" charset="0"/>
              </a:rPr>
              <a:t>. (2022)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Petrenko, O., Makarov, I.: Local Explainability in Credit Default Predictions. Ex- pert Syst. Appl. (2023)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Kumar, V., Al Hassan, F., Carter, J.: Visual Explanation Approaches for Fraud Detection in Finance. IEEE Trans. Neural </a:t>
            </a:r>
            <a:r>
              <a:rPr lang="en-US" sz="1500" dirty="0" err="1">
                <a:latin typeface="Arial" panose="020B0604020202020204" pitchFamily="34" charset="0"/>
                <a:cs typeface="Arial" panose="020B0604020202020204" pitchFamily="34" charset="0"/>
              </a:rPr>
              <a:t>Netw</a:t>
            </a:r>
            <a:r>
              <a:rPr lang="en-US" sz="1500" dirty="0">
                <a:latin typeface="Arial" panose="020B0604020202020204" pitchFamily="34" charset="0"/>
                <a:cs typeface="Arial" panose="020B0604020202020204" pitchFamily="34" charset="0"/>
              </a:rPr>
              <a:t>. Learn. Syst. (2024)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Rodriguez, A., Liu, P., Desai, S.: Transparent Models for Loan Approval Processes. In: Artificial Intelligence in Finance (2023)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Nowak, T., Wojcik, K.: XAI Frameworks and their Applications in Finance: Cur- rent State and Challenges. Comput. Econ. (2024)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Schmid, M., Becker, L., Weber, H.: Neural Fuzzy Modeling for Bank Credit Risk Management. J. Risk </a:t>
            </a:r>
            <a:r>
              <a:rPr lang="en-US" sz="1500" dirty="0" err="1">
                <a:latin typeface="Arial" panose="020B0604020202020204" pitchFamily="34" charset="0"/>
                <a:cs typeface="Arial" panose="020B0604020202020204" pitchFamily="34" charset="0"/>
              </a:rPr>
              <a:t>Financ</a:t>
            </a:r>
            <a:r>
              <a:rPr lang="en-US" sz="1500" dirty="0">
                <a:latin typeface="Arial" panose="020B0604020202020204" pitchFamily="34" charset="0"/>
                <a:cs typeface="Arial" panose="020B0604020202020204" pitchFamily="34" charset="0"/>
              </a:rPr>
              <a:t>. (2022) </a:t>
            </a:r>
          </a:p>
          <a:p>
            <a:pPr marL="342900" indent="-342900" algn="just">
              <a:buFont typeface="+mj-lt"/>
              <a:buAutoNum type="arabicPeriod" startAt="10"/>
            </a:pPr>
            <a:r>
              <a:rPr lang="en-US" sz="1500" dirty="0">
                <a:latin typeface="Arial" panose="020B0604020202020204" pitchFamily="34" charset="0"/>
                <a:cs typeface="Arial" panose="020B0604020202020204" pitchFamily="34" charset="0"/>
              </a:rPr>
              <a:t>Silva, F., Martinez, R., Yildirim, E.: Value at Risk Methodology Enhanced by Fuzzy Programming for Credit Risk. Quant. </a:t>
            </a:r>
            <a:r>
              <a:rPr lang="en-US" sz="1500" dirty="0" err="1">
                <a:latin typeface="Arial" panose="020B0604020202020204" pitchFamily="34" charset="0"/>
                <a:cs typeface="Arial" panose="020B0604020202020204" pitchFamily="34" charset="0"/>
              </a:rPr>
              <a:t>Financ</a:t>
            </a:r>
            <a:r>
              <a:rPr lang="en-US" sz="1500" dirty="0">
                <a:latin typeface="Arial" panose="020B0604020202020204" pitchFamily="34" charset="0"/>
                <a:cs typeface="Arial" panose="020B0604020202020204" pitchFamily="34" charset="0"/>
              </a:rPr>
              <a:t>. (2023)</a:t>
            </a:r>
          </a:p>
        </p:txBody>
      </p:sp>
      <p:grpSp>
        <p:nvGrpSpPr>
          <p:cNvPr id="8" name="Group 7">
            <a:extLst>
              <a:ext uri="{FF2B5EF4-FFF2-40B4-BE49-F238E27FC236}">
                <a16:creationId xmlns:a16="http://schemas.microsoft.com/office/drawing/2014/main" id="{7FFB2ECC-A875-29D5-E69A-DBFBBFB8C650}"/>
              </a:ext>
            </a:extLst>
          </p:cNvPr>
          <p:cNvGrpSpPr/>
          <p:nvPr/>
        </p:nvGrpSpPr>
        <p:grpSpPr>
          <a:xfrm>
            <a:off x="174593" y="200724"/>
            <a:ext cx="11842811" cy="896775"/>
            <a:chOff x="55823" y="-142244"/>
            <a:chExt cx="12136177" cy="1398278"/>
          </a:xfrm>
        </p:grpSpPr>
        <p:sp>
          <p:nvSpPr>
            <p:cNvPr id="9" name="TextBox 8">
              <a:extLst>
                <a:ext uri="{FF2B5EF4-FFF2-40B4-BE49-F238E27FC236}">
                  <a16:creationId xmlns:a16="http://schemas.microsoft.com/office/drawing/2014/main" id="{FFC2740F-436F-56A3-D628-0FB85CE4D554}"/>
                </a:ext>
              </a:extLst>
            </p:cNvPr>
            <p:cNvSpPr txBox="1"/>
            <p:nvPr/>
          </p:nvSpPr>
          <p:spPr>
            <a:xfrm>
              <a:off x="1371599" y="189572"/>
              <a:ext cx="9567747" cy="1066462"/>
            </a:xfrm>
            <a:prstGeom prst="rect">
              <a:avLst/>
            </a:prstGeom>
            <a:noFill/>
          </p:spPr>
          <p:txBody>
            <a:bodyPr wrap="square" rtlCol="0">
              <a:spAutoFit/>
            </a:bodyPr>
            <a:lstStyle/>
            <a:p>
              <a:pPr algn="ctr"/>
              <a:r>
                <a:rPr lang="en-IN" sz="2000" b="1" dirty="0">
                  <a:solidFill>
                    <a:srgbClr val="FF0000"/>
                  </a:solidFill>
                </a:rPr>
                <a:t>International Conference on Computational Technologies for Research in Data Analytics (ICCTRDA 2025)</a:t>
              </a:r>
            </a:p>
            <a:p>
              <a:pPr algn="ctr"/>
              <a:r>
                <a:rPr lang="en-IN" sz="2000" b="1" dirty="0">
                  <a:solidFill>
                    <a:srgbClr val="0070C0"/>
                  </a:solidFill>
                </a:rPr>
                <a:t>21</a:t>
              </a:r>
              <a:r>
                <a:rPr lang="en-IN" sz="2000" b="1" baseline="30000" dirty="0">
                  <a:solidFill>
                    <a:srgbClr val="0070C0"/>
                  </a:solidFill>
                </a:rPr>
                <a:t>st</a:t>
              </a:r>
              <a:r>
                <a:rPr lang="en-IN" sz="2000" b="1" dirty="0">
                  <a:solidFill>
                    <a:srgbClr val="0070C0"/>
                  </a:solidFill>
                </a:rPr>
                <a:t> -22</a:t>
              </a:r>
              <a:r>
                <a:rPr lang="en-IN" sz="2000" b="1" baseline="30000" dirty="0">
                  <a:solidFill>
                    <a:srgbClr val="0070C0"/>
                  </a:solidFill>
                </a:rPr>
                <a:t>nd</a:t>
              </a:r>
              <a:r>
                <a:rPr lang="en-IN" sz="2000" b="1" dirty="0">
                  <a:solidFill>
                    <a:srgbClr val="0070C0"/>
                  </a:solidFill>
                </a:rPr>
                <a:t> November 2025</a:t>
              </a:r>
            </a:p>
          </p:txBody>
        </p:sp>
        <p:pic>
          <p:nvPicPr>
            <p:cNvPr id="10" name="Picture 2">
              <a:extLst>
                <a:ext uri="{FF2B5EF4-FFF2-40B4-BE49-F238E27FC236}">
                  <a16:creationId xmlns:a16="http://schemas.microsoft.com/office/drawing/2014/main" id="{09FA63BF-3DAD-7372-4777-BB06315FE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3" y="-142244"/>
              <a:ext cx="1315776" cy="13157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1C1D873-97F1-6D65-03C5-873C43F90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9346" y="278612"/>
              <a:ext cx="1252654" cy="41879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08173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1135</TotalTime>
  <Words>2679</Words>
  <Application>Microsoft Office PowerPoint</Application>
  <PresentationFormat>Widescreen</PresentationFormat>
  <Paragraphs>302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Shubham Chandratre</cp:lastModifiedBy>
  <cp:revision>46</cp:revision>
  <dcterms:created xsi:type="dcterms:W3CDTF">2021-02-05T14:09:33Z</dcterms:created>
  <dcterms:modified xsi:type="dcterms:W3CDTF">2025-11-22T06:43:43Z</dcterms:modified>
</cp:coreProperties>
</file>